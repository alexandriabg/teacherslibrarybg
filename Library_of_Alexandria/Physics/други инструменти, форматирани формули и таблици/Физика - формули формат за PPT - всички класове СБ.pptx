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0" r:id="rId2"/>
    <p:sldId id="256" r:id="rId3"/>
    <p:sldId id="272" r:id="rId4"/>
    <p:sldId id="257" r:id="rId5"/>
    <p:sldId id="273" r:id="rId6"/>
    <p:sldId id="260" r:id="rId7"/>
    <p:sldId id="274" r:id="rId8"/>
    <p:sldId id="266" r:id="rId9"/>
    <p:sldId id="275" r:id="rId10"/>
    <p:sldId id="267" r:id="rId11"/>
    <p:sldId id="276" r:id="rId12"/>
    <p:sldId id="268" r:id="rId13"/>
    <p:sldId id="269" r:id="rId14"/>
    <p:sldId id="278" r:id="rId15"/>
    <p:sldId id="262" r:id="rId16"/>
    <p:sldId id="261" r:id="rId17"/>
    <p:sldId id="279" r:id="rId18"/>
    <p:sldId id="280" r:id="rId19"/>
    <p:sldId id="281" r:id="rId20"/>
    <p:sldId id="282" r:id="rId21"/>
    <p:sldId id="263" r:id="rId22"/>
    <p:sldId id="277" r:id="rId23"/>
    <p:sldId id="283" r:id="rId24"/>
    <p:sldId id="264" r:id="rId25"/>
    <p:sldId id="265" r:id="rId26"/>
    <p:sldId id="284" r:id="rId27"/>
    <p:sldId id="285" r:id="rId2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BA38C-BD42-44BC-B2B5-6EA8954F8F9A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0FA39-5E25-4F57-9FE0-2DF9A4F364C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6116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Създадено от Силви Банжов, </a:t>
            </a:r>
            <a:r>
              <a:rPr lang="en-US" dirty="0"/>
              <a:t>silvy_banzhov@abv.bg, 089</a:t>
            </a:r>
            <a:r>
              <a:rPr lang="bg-BG" dirty="0"/>
              <a:t> </a:t>
            </a:r>
            <a:r>
              <a:rPr lang="en-US" dirty="0"/>
              <a:t>33</a:t>
            </a:r>
            <a:r>
              <a:rPr lang="bg-BG" dirty="0"/>
              <a:t> </a:t>
            </a:r>
            <a:r>
              <a:rPr lang="en-US" dirty="0"/>
              <a:t>80</a:t>
            </a:r>
            <a:r>
              <a:rPr lang="bg-BG" dirty="0"/>
              <a:t> </a:t>
            </a:r>
            <a:r>
              <a:rPr lang="en-US" dirty="0"/>
              <a:t>938</a:t>
            </a:r>
            <a:r>
              <a:rPr lang="bg-BG" dirty="0"/>
              <a:t>, пишете ми по Вайбър ако не вдигна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0FA39-5E25-4F57-9FE0-2DF9A4F364C3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64827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A5BEB-2D03-0B8D-17BB-DCACEC617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00402-E25C-37CB-FAD8-B0362B1EF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23751-5BFB-540B-EF92-58E10CAC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3E6B-47BD-0CB8-7AFF-A1C39D66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A4EBB-B93C-34D8-AE9E-53700AA0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51945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714E7-8471-937C-6A7F-D756802B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711AA-E1C6-2F51-73ED-A7D3D682B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1DB51-4052-D096-C25C-5C6871C1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EE11D-377A-5B37-0F46-6CDDBB65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F3194-4EDA-E69C-AE0F-D1A6F184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8554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234AB-C170-DE09-510E-C8C35FB8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6C0CD-790D-EF81-5879-C28A82B8A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85766-E2B3-0461-536D-1193B652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8C07B-B881-7AE7-A2DB-C6896387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0C3BC-2187-EE8B-51AC-899D957EB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0601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4F9D-9D96-1415-956E-5DEAB9102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D2FA-E41F-95C0-D94A-A98028F8C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6FECD-3242-4A4F-F255-14C2A6718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F2643-7024-768C-7A0A-E7EFC419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0A0B2-6A60-35B4-34B0-7D859977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3D978-6C69-59A8-7AA8-9CF07BE5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2783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150DB-3877-D7E5-624F-7B1EF2BAC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A6F05-4AFF-12B4-9F19-20D748618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F4CEB-CFED-7D16-79D0-29AF676DD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DBD03-1D7D-97F5-C212-522158290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2F1AE-5021-C438-56FA-2DB971D66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F1041E-9A61-5D46-E9C4-035F9435F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FD50A4-18F5-9C96-1947-B095150B8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0C700-E4F4-B5C6-1553-564A276F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1246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4E7B-358E-22F2-533C-7342D35B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5A974-E6DA-7F23-CFB2-93432621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46C95-4B62-97D3-7D83-57665D0F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7F6D4-5393-7150-5CB4-D105E71E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55973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6A65FC-0D4E-AD1C-A7AB-CC3084BF4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9BFE3-F778-944A-9073-2C815113C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2EABD-F19F-22FB-5E1A-3E22238FD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336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7402-5A92-FBC1-44EF-8C143859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96875-F58B-E3E8-88EA-2A64AD88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B1161-9B44-8B11-F3AE-4327335D7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9A26E-EB2C-185B-A5F6-2695F108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653D6-E7D0-C87C-B7B8-6737608B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9C309-DB19-0554-E5E1-9A3B02DE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17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E650-B29A-FA88-5EC3-19FCC7A7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9A8E0-E93E-1082-741E-1B1F6B88DA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A598E-95B2-683A-E958-539545CBE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12B09-B2B4-9E8B-A927-26392BED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E9245-5995-17C6-DEA6-A3CCB19C1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A33FC-AD7B-F1B0-60E0-A982D85F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0012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49F83-8ECF-A413-520A-BF2C9285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8A8B5-C637-C2A7-48B5-1219A3AFB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5A76B-F92F-26A9-0943-6F4D05A3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92BAB-6437-ECFB-141E-0B9052D1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2F93C-2B5D-898E-245E-31A3F31B2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5004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49706-8540-DE47-A4DF-2C426274E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958D1-8D3C-FA20-857D-389EAD797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CF11-D934-5087-FD6A-2E872B85A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8C8D0-02C6-BC5B-04F2-8EB62427B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F84EA-AC81-F347-FA21-132F64E5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5145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1E5FAA-4C15-81A7-DDEC-D42D2CFA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4FD1C-5450-D75E-A267-C219C067F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9F394-CA0A-3A59-8FE8-9C70609B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3D98C-4FC4-4AF5-8822-5D10DA12D1D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DB73C-8E52-4718-704A-241903902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90942-5C10-3B0F-A3E7-9801A6BC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0476F-BA50-43A1-81E1-08EAFDB3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5942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7" Type="http://schemas.openxmlformats.org/officeDocument/2006/relationships/image" Target="../media/image60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0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6224-889D-BAC7-990F-27F20EA4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bg-BG" dirty="0"/>
              <a:t>Кратко въведение:</a:t>
            </a:r>
          </a:p>
        </p:txBody>
      </p:sp>
      <p:sp>
        <p:nvSpPr>
          <p:cNvPr id="4" name="Partial Circle 3">
            <a:extLst>
              <a:ext uri="{FF2B5EF4-FFF2-40B4-BE49-F238E27FC236}">
                <a16:creationId xmlns:a16="http://schemas.microsoft.com/office/drawing/2014/main" id="{E4975701-F423-2518-D3D4-DFDE1174399C}"/>
              </a:ext>
            </a:extLst>
          </p:cNvPr>
          <p:cNvSpPr/>
          <p:nvPr/>
        </p:nvSpPr>
        <p:spPr>
          <a:xfrm>
            <a:off x="146484" y="5478525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10C0D-3C63-639D-3B55-41A13171D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170" y="1325563"/>
            <a:ext cx="11246176" cy="407599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не е нужно да отивате в </a:t>
            </a:r>
            <a:r>
              <a:rPr lang="en-US" dirty="0"/>
              <a:t>slideshow, </a:t>
            </a:r>
            <a:r>
              <a:rPr lang="bg-BG" dirty="0"/>
              <a:t>просто отивате на слайд и:</a:t>
            </a:r>
          </a:p>
          <a:p>
            <a:pPr marL="0" indent="0">
              <a:buNone/>
            </a:pPr>
            <a:r>
              <a:rPr lang="bg-BG" dirty="0"/>
              <a:t>	1. избирате формулата, която Ви трябва</a:t>
            </a:r>
          </a:p>
          <a:p>
            <a:pPr marL="0" indent="0">
              <a:buNone/>
            </a:pPr>
            <a:r>
              <a:rPr lang="bg-BG" dirty="0"/>
              <a:t>	2. копирате</a:t>
            </a:r>
          </a:p>
          <a:p>
            <a:pPr marL="0" indent="0">
              <a:buNone/>
            </a:pPr>
            <a:r>
              <a:rPr lang="bg-BG" dirty="0"/>
              <a:t>	3. </a:t>
            </a:r>
            <a:r>
              <a:rPr lang="bg-BG" dirty="0" err="1"/>
              <a:t>кликате</a:t>
            </a:r>
            <a:r>
              <a:rPr lang="bg-BG" dirty="0"/>
              <a:t> 2 пъти във Вашата презентация</a:t>
            </a:r>
          </a:p>
          <a:p>
            <a:pPr marL="0" indent="0">
              <a:buNone/>
            </a:pPr>
            <a:r>
              <a:rPr lang="bg-BG" dirty="0"/>
              <a:t>	4. поставяте</a:t>
            </a:r>
          </a:p>
          <a:p>
            <a:pPr marL="0" indent="0">
              <a:buNone/>
            </a:pPr>
            <a:r>
              <a:rPr lang="bg-BG" dirty="0"/>
              <a:t>Воала! имате готова въведена формула, готова за работа!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също, заедно бутони </a:t>
            </a:r>
            <a:r>
              <a:rPr lang="en-US" dirty="0"/>
              <a:t>Ctrl + F</a:t>
            </a:r>
            <a:r>
              <a:rPr lang="bg-BG" dirty="0"/>
              <a:t> отварят търсачка,  така може да търсите по дума, например „термодинамика“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68A2C-510B-4044-55A5-D7802DFF87B6}"/>
              </a:ext>
            </a:extLst>
          </p:cNvPr>
          <p:cNvSpPr txBox="1"/>
          <p:nvPr/>
        </p:nvSpPr>
        <p:spPr>
          <a:xfrm>
            <a:off x="2055043" y="5703216"/>
            <a:ext cx="9879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– означава, че формулите са извадени от учебния план за съответния клас от МОН</a:t>
            </a:r>
          </a:p>
          <a:p>
            <a:r>
              <a:rPr lang="bg-BG" dirty="0"/>
              <a:t>* слайдовете след тях без надпис „от МОН“ са производни, които може да Ви потрябват</a:t>
            </a:r>
          </a:p>
        </p:txBody>
      </p:sp>
    </p:spTree>
    <p:extLst>
      <p:ext uri="{BB962C8B-B14F-4D97-AF65-F5344CB8AC3E}">
        <p14:creationId xmlns:p14="http://schemas.microsoft.com/office/powerpoint/2010/main" val="80853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ECA3ADE-456E-0F27-3B48-1E6D06F4097A}"/>
              </a:ext>
            </a:extLst>
          </p:cNvPr>
          <p:cNvSpPr/>
          <p:nvPr/>
        </p:nvSpPr>
        <p:spPr>
          <a:xfrm>
            <a:off x="0" y="0"/>
            <a:ext cx="4650685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Движение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4D517E-82DA-9EC8-F4E4-68FC2F2369AE}"/>
                  </a:ext>
                </a:extLst>
              </p:cNvPr>
              <p:cNvSpPr txBox="1"/>
              <p:nvPr/>
            </p:nvSpPr>
            <p:spPr>
              <a:xfrm>
                <a:off x="1432238" y="3136947"/>
                <a:ext cx="1295226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bg-BG" sz="32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bg-BG" sz="32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bg-BG" sz="32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4D517E-82DA-9EC8-F4E4-68FC2F236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238" y="3136947"/>
                <a:ext cx="1295226" cy="9251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2B7E95-CA5F-61CF-544D-8159072208F3}"/>
                  </a:ext>
                </a:extLst>
              </p:cNvPr>
              <p:cNvSpPr txBox="1"/>
              <p:nvPr/>
            </p:nvSpPr>
            <p:spPr>
              <a:xfrm>
                <a:off x="5185487" y="3136947"/>
                <a:ext cx="1336904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bg-BG" sz="32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bg-BG" sz="32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2B7E95-CA5F-61CF-544D-815907220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487" y="3136947"/>
                <a:ext cx="1336904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A35874-B32D-1F07-1D3B-743A84478482}"/>
                  </a:ext>
                </a:extLst>
              </p:cNvPr>
              <p:cNvSpPr txBox="1"/>
              <p:nvPr/>
            </p:nvSpPr>
            <p:spPr>
              <a:xfrm>
                <a:off x="1432238" y="4395409"/>
                <a:ext cx="21342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𝑎𝑡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A35874-B32D-1F07-1D3B-743A8447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238" y="4395409"/>
                <a:ext cx="213423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DDBC28-DFA6-1E4E-B738-DB5DE5D8F147}"/>
                  </a:ext>
                </a:extLst>
              </p:cNvPr>
              <p:cNvSpPr txBox="1"/>
              <p:nvPr/>
            </p:nvSpPr>
            <p:spPr>
              <a:xfrm>
                <a:off x="1432238" y="5300709"/>
                <a:ext cx="21342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𝑎𝑡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DDBC28-DFA6-1E4E-B738-DB5DE5D8F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238" y="5300709"/>
                <a:ext cx="213423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958D52-76D9-2FBA-9403-AAA35DC6D5D5}"/>
                  </a:ext>
                </a:extLst>
              </p:cNvPr>
              <p:cNvSpPr txBox="1"/>
              <p:nvPr/>
            </p:nvSpPr>
            <p:spPr>
              <a:xfrm>
                <a:off x="8694958" y="3136947"/>
                <a:ext cx="2498889" cy="9849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958D52-76D9-2FBA-9403-AAA35DC6D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958" y="3136947"/>
                <a:ext cx="2498889" cy="9849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4B49B5-D00A-B75E-5AD4-354E2440D965}"/>
                  </a:ext>
                </a:extLst>
              </p:cNvPr>
              <p:cNvSpPr txBox="1"/>
              <p:nvPr/>
            </p:nvSpPr>
            <p:spPr>
              <a:xfrm>
                <a:off x="8694957" y="4395409"/>
                <a:ext cx="2498889" cy="9849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bg-BG" sz="3200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4B49B5-D00A-B75E-5AD4-354E2440D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957" y="4395409"/>
                <a:ext cx="2498889" cy="9849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artial Circle 2">
            <a:extLst>
              <a:ext uri="{FF2B5EF4-FFF2-40B4-BE49-F238E27FC236}">
                <a16:creationId xmlns:a16="http://schemas.microsoft.com/office/drawing/2014/main" id="{222489E5-7CB3-6E57-F65B-18E623A3E4DE}"/>
              </a:ext>
            </a:extLst>
          </p:cNvPr>
          <p:cNvSpPr/>
          <p:nvPr/>
        </p:nvSpPr>
        <p:spPr>
          <a:xfrm>
            <a:off x="-880157" y="5996309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00C64B-4920-FBB9-A680-4611E8B965BD}"/>
              </a:ext>
            </a:extLst>
          </p:cNvPr>
          <p:cNvSpPr txBox="1"/>
          <p:nvPr/>
        </p:nvSpPr>
        <p:spPr>
          <a:xfrm>
            <a:off x="1258527" y="2126876"/>
            <a:ext cx="1984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/>
              <a:t>скорости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0C892-D1CC-9D67-AC73-726E31240F76}"/>
              </a:ext>
            </a:extLst>
          </p:cNvPr>
          <p:cNvSpPr txBox="1"/>
          <p:nvPr/>
        </p:nvSpPr>
        <p:spPr>
          <a:xfrm>
            <a:off x="4779279" y="2123318"/>
            <a:ext cx="249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/>
              <a:t>ускорение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0DE89-DFE5-1E58-76FF-91AB7ECF45AC}"/>
              </a:ext>
            </a:extLst>
          </p:cNvPr>
          <p:cNvSpPr txBox="1"/>
          <p:nvPr/>
        </p:nvSpPr>
        <p:spPr>
          <a:xfrm>
            <a:off x="8814577" y="2099042"/>
            <a:ext cx="249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/>
              <a:t>път</a:t>
            </a:r>
          </a:p>
        </p:txBody>
      </p:sp>
    </p:spTree>
    <p:extLst>
      <p:ext uri="{BB962C8B-B14F-4D97-AF65-F5344CB8AC3E}">
        <p14:creationId xmlns:p14="http://schemas.microsoft.com/office/powerpoint/2010/main" val="4247150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BB7165-151F-290C-5E76-49B2B16DE204}"/>
                  </a:ext>
                </a:extLst>
              </p:cNvPr>
              <p:cNvSpPr txBox="1"/>
              <p:nvPr/>
            </p:nvSpPr>
            <p:spPr>
              <a:xfrm>
                <a:off x="1249334" y="767956"/>
                <a:ext cx="1379095" cy="843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BB7165-151F-290C-5E76-49B2B16DE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34" y="767956"/>
                <a:ext cx="1379095" cy="8432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39F536-CF49-5BAC-416C-5351B62C48AB}"/>
                  </a:ext>
                </a:extLst>
              </p:cNvPr>
              <p:cNvSpPr txBox="1"/>
              <p:nvPr/>
            </p:nvSpPr>
            <p:spPr>
              <a:xfrm>
                <a:off x="1249334" y="1758739"/>
                <a:ext cx="12535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𝑎𝑡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39F536-CF49-5BAC-416C-5351B62C4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34" y="1758739"/>
                <a:ext cx="125354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E21439-AE1C-2425-55E7-0F3FB1EC688E}"/>
                  </a:ext>
                </a:extLst>
              </p:cNvPr>
              <p:cNvSpPr txBox="1"/>
              <p:nvPr/>
            </p:nvSpPr>
            <p:spPr>
              <a:xfrm>
                <a:off x="1249334" y="2398721"/>
                <a:ext cx="1520096" cy="844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bg-BG" sz="3200" b="0" i="1" smtClean="0">
                              <a:latin typeface="Cambria Math" panose="02040503050406030204" pitchFamily="18" charset="0"/>
                            </a:rPr>
                            <m:t>п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E21439-AE1C-2425-55E7-0F3FB1EC6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34" y="2398721"/>
                <a:ext cx="1520096" cy="8442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92B495-C738-6EE3-F7EE-748EB65752CF}"/>
                  </a:ext>
                </a:extLst>
              </p:cNvPr>
              <p:cNvSpPr txBox="1"/>
              <p:nvPr/>
            </p:nvSpPr>
            <p:spPr>
              <a:xfrm>
                <a:off x="1249334" y="3390465"/>
                <a:ext cx="1593193" cy="995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bg-BG" sz="3200" b="0" i="1" smtClean="0">
                              <a:latin typeface="Cambria Math" panose="02040503050406030204" pitchFamily="18" charset="0"/>
                            </a:rPr>
                            <m:t>п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92B495-C738-6EE3-F7EE-748EB6575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34" y="3390465"/>
                <a:ext cx="1593193" cy="9959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71B3EC-3889-FDDC-4D6A-D3C9D30D4694}"/>
                  </a:ext>
                </a:extLst>
              </p:cNvPr>
              <p:cNvSpPr txBox="1"/>
              <p:nvPr/>
            </p:nvSpPr>
            <p:spPr>
              <a:xfrm>
                <a:off x="1249334" y="4533917"/>
                <a:ext cx="3171381" cy="1014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bg-BG" sz="3200" b="0" i="1" smtClean="0">
                              <a:latin typeface="Cambria Math" panose="02040503050406030204" pitchFamily="18" charset="0"/>
                            </a:rPr>
                            <m:t>п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п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bSup>
                            <m:sSub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sz="3200" b="0" i="1" smtClean="0">
                                  <a:latin typeface="Cambria Math" panose="02040503050406030204" pitchFamily="18" charset="0"/>
                                </a:rPr>
                                <m:t>сп</m:t>
                              </m:r>
                            </m:sub>
                            <m:sup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71B3EC-3889-FDDC-4D6A-D3C9D30D4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34" y="4533917"/>
                <a:ext cx="3171381" cy="10145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F399E57-A29A-F3AD-0CB2-28517A2B1FC5}"/>
              </a:ext>
            </a:extLst>
          </p:cNvPr>
          <p:cNvSpPr txBox="1"/>
          <p:nvPr/>
        </p:nvSpPr>
        <p:spPr>
          <a:xfrm>
            <a:off x="5373328" y="839463"/>
            <a:ext cx="4106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/>
              <a:t>средна скорост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76FF6-861C-81D2-2301-EF5ACEB80742}"/>
              </a:ext>
            </a:extLst>
          </p:cNvPr>
          <p:cNvSpPr txBox="1"/>
          <p:nvPr/>
        </p:nvSpPr>
        <p:spPr>
          <a:xfrm>
            <a:off x="5373328" y="1666407"/>
            <a:ext cx="5160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/>
              <a:t>скорост от ускорение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B00EE-85E4-8AF5-3AAA-29E0705CCC58}"/>
              </a:ext>
            </a:extLst>
          </p:cNvPr>
          <p:cNvSpPr txBox="1"/>
          <p:nvPr/>
        </p:nvSpPr>
        <p:spPr>
          <a:xfrm>
            <a:off x="5373328" y="2528435"/>
            <a:ext cx="5160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/>
              <a:t>спирачно време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E2C61-46AB-98E0-C967-89ABF8087019}"/>
              </a:ext>
            </a:extLst>
          </p:cNvPr>
          <p:cNvSpPr txBox="1"/>
          <p:nvPr/>
        </p:nvSpPr>
        <p:spPr>
          <a:xfrm>
            <a:off x="5373328" y="3456699"/>
            <a:ext cx="634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/>
              <a:t>спирачен път изведен без </a:t>
            </a:r>
            <a:r>
              <a:rPr lang="en-US" sz="3200" dirty="0"/>
              <a:t>t</a:t>
            </a:r>
            <a:endParaRPr lang="bg-BG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F44DED-B4F3-0312-CB09-53AA26997F25}"/>
              </a:ext>
            </a:extLst>
          </p:cNvPr>
          <p:cNvSpPr txBox="1"/>
          <p:nvPr/>
        </p:nvSpPr>
        <p:spPr>
          <a:xfrm>
            <a:off x="5373328" y="4748783"/>
            <a:ext cx="634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/>
              <a:t>спирачен път</a:t>
            </a:r>
          </a:p>
        </p:txBody>
      </p:sp>
    </p:spTree>
    <p:extLst>
      <p:ext uri="{BB962C8B-B14F-4D97-AF65-F5344CB8AC3E}">
        <p14:creationId xmlns:p14="http://schemas.microsoft.com/office/powerpoint/2010/main" val="1200506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E8A8-0D06-81F8-0B78-C8F17BE87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5303B5C-FCC4-B287-6FFA-8DCA14BC2F32}"/>
              </a:ext>
            </a:extLst>
          </p:cNvPr>
          <p:cNvSpPr/>
          <p:nvPr/>
        </p:nvSpPr>
        <p:spPr>
          <a:xfrm>
            <a:off x="0" y="0"/>
            <a:ext cx="8798011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Сили</a:t>
            </a:r>
            <a:r>
              <a:rPr lang="en-US" sz="6000" dirty="0"/>
              <a:t>,</a:t>
            </a:r>
            <a:r>
              <a:rPr lang="bg-BG" sz="6000" dirty="0"/>
              <a:t> Работа, мощност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21E85F-3D87-73F9-AA6D-AFF288C6E08D}"/>
                  </a:ext>
                </a:extLst>
              </p:cNvPr>
              <p:cNvSpPr txBox="1"/>
              <p:nvPr/>
            </p:nvSpPr>
            <p:spPr>
              <a:xfrm>
                <a:off x="310641" y="1798944"/>
                <a:ext cx="14969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21E85F-3D87-73F9-AA6D-AFF288C6E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41" y="1798944"/>
                <a:ext cx="1496948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0536F6-C844-8D27-2E3F-463169B04AE0}"/>
                  </a:ext>
                </a:extLst>
              </p:cNvPr>
              <p:cNvSpPr txBox="1"/>
              <p:nvPr/>
            </p:nvSpPr>
            <p:spPr>
              <a:xfrm>
                <a:off x="310641" y="2821331"/>
                <a:ext cx="153221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0536F6-C844-8D27-2E3F-463169B04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41" y="2821331"/>
                <a:ext cx="1532214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DFCE65-3C92-0958-7148-7D5465C66476}"/>
                  </a:ext>
                </a:extLst>
              </p:cNvPr>
              <p:cNvSpPr txBox="1"/>
              <p:nvPr/>
            </p:nvSpPr>
            <p:spPr>
              <a:xfrm>
                <a:off x="310641" y="3843718"/>
                <a:ext cx="14857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DFCE65-3C92-0958-7148-7D5465C66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41" y="3843718"/>
                <a:ext cx="148572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0CCA3B-9B29-0135-550C-48478CA15727}"/>
                  </a:ext>
                </a:extLst>
              </p:cNvPr>
              <p:cNvSpPr txBox="1"/>
              <p:nvPr/>
            </p:nvSpPr>
            <p:spPr>
              <a:xfrm>
                <a:off x="6096000" y="5311517"/>
                <a:ext cx="162214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𝑘𝑁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0CCA3B-9B29-0135-550C-48478CA15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11517"/>
                <a:ext cx="162214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09D4D1-45A2-7F4E-DA26-D891CA75D9D6}"/>
                  </a:ext>
                </a:extLst>
              </p:cNvPr>
              <p:cNvSpPr txBox="1"/>
              <p:nvPr/>
            </p:nvSpPr>
            <p:spPr>
              <a:xfrm>
                <a:off x="6096000" y="1813159"/>
                <a:ext cx="207934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09D4D1-45A2-7F4E-DA26-D891CA75D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13159"/>
                <a:ext cx="207934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118EC0-1E6A-D2A5-98D1-FB00178ECDD4}"/>
                  </a:ext>
                </a:extLst>
              </p:cNvPr>
              <p:cNvSpPr txBox="1"/>
              <p:nvPr/>
            </p:nvSpPr>
            <p:spPr>
              <a:xfrm>
                <a:off x="6096000" y="2766000"/>
                <a:ext cx="192370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bg-BG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118EC0-1E6A-D2A5-98D1-FB00178EC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66000"/>
                <a:ext cx="1923704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4C4CE3-7AA6-C9D7-1DC1-4307CB39CB18}"/>
                  </a:ext>
                </a:extLst>
              </p:cNvPr>
              <p:cNvSpPr txBox="1"/>
              <p:nvPr/>
            </p:nvSpPr>
            <p:spPr>
              <a:xfrm>
                <a:off x="6096000" y="3720107"/>
                <a:ext cx="1398410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4C4CE3-7AA6-C9D7-1DC1-4307CB39C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20107"/>
                <a:ext cx="1398410" cy="9251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artial Circle 10">
            <a:extLst>
              <a:ext uri="{FF2B5EF4-FFF2-40B4-BE49-F238E27FC236}">
                <a16:creationId xmlns:a16="http://schemas.microsoft.com/office/drawing/2014/main" id="{15B03795-6EFF-750A-F1AE-BCDC37715235}"/>
              </a:ext>
            </a:extLst>
          </p:cNvPr>
          <p:cNvSpPr/>
          <p:nvPr/>
        </p:nvSpPr>
        <p:spPr>
          <a:xfrm>
            <a:off x="-880157" y="5996309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6785B8-2F8A-FFB7-8081-98E30B559658}"/>
              </a:ext>
            </a:extLst>
          </p:cNvPr>
          <p:cNvSpPr txBox="1"/>
          <p:nvPr/>
        </p:nvSpPr>
        <p:spPr>
          <a:xfrm>
            <a:off x="1989427" y="1782518"/>
            <a:ext cx="4106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сила на тежестта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168EFE-5014-BB32-06B3-092CEF2E9988}"/>
              </a:ext>
            </a:extLst>
          </p:cNvPr>
          <p:cNvSpPr txBox="1"/>
          <p:nvPr/>
        </p:nvSpPr>
        <p:spPr>
          <a:xfrm>
            <a:off x="1989425" y="2679434"/>
            <a:ext cx="4106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сила на реакция на опората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8C0A21-1CFB-AD13-DBFD-31BFCB3ABFC4}"/>
              </a:ext>
            </a:extLst>
          </p:cNvPr>
          <p:cNvSpPr txBox="1"/>
          <p:nvPr/>
        </p:nvSpPr>
        <p:spPr>
          <a:xfrm>
            <a:off x="1989425" y="3857461"/>
            <a:ext cx="4106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тегло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023BB0-3C9E-C0D1-49D7-E201FCDD1F11}"/>
              </a:ext>
            </a:extLst>
          </p:cNvPr>
          <p:cNvSpPr txBox="1"/>
          <p:nvPr/>
        </p:nvSpPr>
        <p:spPr>
          <a:xfrm>
            <a:off x="8278237" y="1782382"/>
            <a:ext cx="239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сила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AB3640-F7EA-5D42-1A5C-CB1C73416767}"/>
              </a:ext>
            </a:extLst>
          </p:cNvPr>
          <p:cNvSpPr txBox="1"/>
          <p:nvPr/>
        </p:nvSpPr>
        <p:spPr>
          <a:xfrm>
            <a:off x="8278237" y="2827555"/>
            <a:ext cx="239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работа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4DCE9E-D176-470A-E9CE-17D8E815B6C1}"/>
              </a:ext>
            </a:extLst>
          </p:cNvPr>
          <p:cNvSpPr txBox="1"/>
          <p:nvPr/>
        </p:nvSpPr>
        <p:spPr>
          <a:xfrm>
            <a:off x="8278236" y="4029179"/>
            <a:ext cx="239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мощност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5AEDD-875A-96A5-34F0-8DB45896BA61}"/>
              </a:ext>
            </a:extLst>
          </p:cNvPr>
          <p:cNvSpPr txBox="1"/>
          <p:nvPr/>
        </p:nvSpPr>
        <p:spPr>
          <a:xfrm>
            <a:off x="8278237" y="5280740"/>
            <a:ext cx="3151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сила на триене</a:t>
            </a:r>
          </a:p>
        </p:txBody>
      </p:sp>
    </p:spTree>
    <p:extLst>
      <p:ext uri="{BB962C8B-B14F-4D97-AF65-F5344CB8AC3E}">
        <p14:creationId xmlns:p14="http://schemas.microsoft.com/office/powerpoint/2010/main" val="338561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B2E21C-2AE6-E56A-2429-C0539457BA17}"/>
                  </a:ext>
                </a:extLst>
              </p:cNvPr>
              <p:cNvSpPr txBox="1"/>
              <p:nvPr/>
            </p:nvSpPr>
            <p:spPr>
              <a:xfrm>
                <a:off x="2834563" y="899903"/>
                <a:ext cx="1208408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B2E21C-2AE6-E56A-2429-C0539457B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563" y="899903"/>
                <a:ext cx="1208408" cy="9219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285D3F-07AF-38AC-0E0E-BD2BF7197D61}"/>
                  </a:ext>
                </a:extLst>
              </p:cNvPr>
              <p:cNvSpPr txBox="1"/>
              <p:nvPr/>
            </p:nvSpPr>
            <p:spPr>
              <a:xfrm>
                <a:off x="587474" y="2739193"/>
                <a:ext cx="5252656" cy="530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bg-BG" sz="3200" b="0" i="1" smtClean="0">
                              <a:latin typeface="Cambria Math" panose="02040503050406030204" pitchFamily="18" charset="0"/>
                            </a:rPr>
                            <m:t>авнодействащо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bg-BG" sz="32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285D3F-07AF-38AC-0E0E-BD2BF7197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74" y="2739193"/>
                <a:ext cx="5252656" cy="5304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6B0C2C5-68E4-5880-417C-D83A258803CF}"/>
              </a:ext>
            </a:extLst>
          </p:cNvPr>
          <p:cNvSpPr txBox="1"/>
          <p:nvPr/>
        </p:nvSpPr>
        <p:spPr>
          <a:xfrm>
            <a:off x="4610908" y="1099285"/>
            <a:ext cx="6867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изразено ускорение по втори принцип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6F79C-F9D3-2365-7247-1198846026E1}"/>
              </a:ext>
            </a:extLst>
          </p:cNvPr>
          <p:cNvSpPr txBox="1"/>
          <p:nvPr/>
        </p:nvSpPr>
        <p:spPr>
          <a:xfrm>
            <a:off x="6420254" y="2739193"/>
            <a:ext cx="484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равнодействаща сила</a:t>
            </a:r>
          </a:p>
        </p:txBody>
      </p:sp>
    </p:spTree>
    <p:extLst>
      <p:ext uri="{BB962C8B-B14F-4D97-AF65-F5344CB8AC3E}">
        <p14:creationId xmlns:p14="http://schemas.microsoft.com/office/powerpoint/2010/main" val="1894049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BA0A7-D275-C285-BE3E-987DC819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93F9D05-8705-B8C2-E556-9B95B3C04383}"/>
              </a:ext>
            </a:extLst>
          </p:cNvPr>
          <p:cNvSpPr/>
          <p:nvPr/>
        </p:nvSpPr>
        <p:spPr>
          <a:xfrm>
            <a:off x="0" y="0"/>
            <a:ext cx="4650685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Енергия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213C87-4091-7022-4DA5-48896B256C7E}"/>
                  </a:ext>
                </a:extLst>
              </p:cNvPr>
              <p:cNvSpPr txBox="1"/>
              <p:nvPr/>
            </p:nvSpPr>
            <p:spPr>
              <a:xfrm>
                <a:off x="1093701" y="2275680"/>
                <a:ext cx="2463281" cy="5304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213C87-4091-7022-4DA5-48896B256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701" y="2275680"/>
                <a:ext cx="2463281" cy="5304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E34BFF-9EDA-B592-3627-25437236E706}"/>
                  </a:ext>
                </a:extLst>
              </p:cNvPr>
              <p:cNvSpPr txBox="1"/>
              <p:nvPr/>
            </p:nvSpPr>
            <p:spPr>
              <a:xfrm>
                <a:off x="934655" y="3375589"/>
                <a:ext cx="2158406" cy="857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320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bg-BG" sz="32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bg-BG" sz="32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bg-BG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bg-BG" sz="320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bg-BG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bg-BG" sz="3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bg-BG" sz="32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bg-BG" sz="32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bg-BG" sz="32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E34BFF-9EDA-B592-3627-25437236E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55" y="3375589"/>
                <a:ext cx="2158406" cy="8577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868F0F-C30C-3157-71FF-813DB7356430}"/>
                  </a:ext>
                </a:extLst>
              </p:cNvPr>
              <p:cNvSpPr txBox="1"/>
              <p:nvPr/>
            </p:nvSpPr>
            <p:spPr>
              <a:xfrm>
                <a:off x="934655" y="4802895"/>
                <a:ext cx="1892762" cy="530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𝑚𝑔h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868F0F-C30C-3157-71FF-813DB7356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55" y="4802895"/>
                <a:ext cx="1892762" cy="5304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artial Circle 4">
            <a:extLst>
              <a:ext uri="{FF2B5EF4-FFF2-40B4-BE49-F238E27FC236}">
                <a16:creationId xmlns:a16="http://schemas.microsoft.com/office/drawing/2014/main" id="{0BF5C11D-EA72-C63A-F02A-4F2790728018}"/>
              </a:ext>
            </a:extLst>
          </p:cNvPr>
          <p:cNvSpPr/>
          <p:nvPr/>
        </p:nvSpPr>
        <p:spPr>
          <a:xfrm>
            <a:off x="-880157" y="5996309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8D2C8-7476-88D4-76D9-28CC6E4ACDDC}"/>
              </a:ext>
            </a:extLst>
          </p:cNvPr>
          <p:cNvSpPr txBox="1"/>
          <p:nvPr/>
        </p:nvSpPr>
        <p:spPr>
          <a:xfrm>
            <a:off x="3784061" y="2265360"/>
            <a:ext cx="5119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обща механична енергия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EA5C5-7030-A14E-F594-ED9BD7722F91}"/>
              </a:ext>
            </a:extLst>
          </p:cNvPr>
          <p:cNvSpPr txBox="1"/>
          <p:nvPr/>
        </p:nvSpPr>
        <p:spPr>
          <a:xfrm>
            <a:off x="3784061" y="3546201"/>
            <a:ext cx="5119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кинетична енергия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09027-FE88-DF08-AD40-28DAA7A29064}"/>
              </a:ext>
            </a:extLst>
          </p:cNvPr>
          <p:cNvSpPr txBox="1"/>
          <p:nvPr/>
        </p:nvSpPr>
        <p:spPr>
          <a:xfrm>
            <a:off x="3784061" y="4806486"/>
            <a:ext cx="5119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потенциална енергия</a:t>
            </a:r>
          </a:p>
        </p:txBody>
      </p:sp>
    </p:spTree>
    <p:extLst>
      <p:ext uri="{BB962C8B-B14F-4D97-AF65-F5344CB8AC3E}">
        <p14:creationId xmlns:p14="http://schemas.microsoft.com/office/powerpoint/2010/main" val="54419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4E9EC7-D9F6-E03D-B639-431618CFAFA2}"/>
                  </a:ext>
                </a:extLst>
              </p:cNvPr>
              <p:cNvSpPr txBox="1"/>
              <p:nvPr/>
            </p:nvSpPr>
            <p:spPr>
              <a:xfrm>
                <a:off x="754556" y="1024942"/>
                <a:ext cx="3079241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𝛱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𝛱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4E9EC7-D9F6-E03D-B639-431618CFA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56" y="1024942"/>
                <a:ext cx="3079241" cy="5375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860D6EF-7029-AF3F-3B11-6EA3FCF10145}"/>
              </a:ext>
            </a:extLst>
          </p:cNvPr>
          <p:cNvSpPr txBox="1"/>
          <p:nvPr/>
        </p:nvSpPr>
        <p:spPr>
          <a:xfrm>
            <a:off x="4406631" y="816647"/>
            <a:ext cx="6926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работата на силата на тежестта изразена чрез разлика в потенциалната енергия</a:t>
            </a:r>
          </a:p>
        </p:txBody>
      </p:sp>
    </p:spTree>
    <p:extLst>
      <p:ext uri="{BB962C8B-B14F-4D97-AF65-F5344CB8AC3E}">
        <p14:creationId xmlns:p14="http://schemas.microsoft.com/office/powerpoint/2010/main" val="1509264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54AB1-C084-35EB-FB3E-F9F20ADD2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0ABA638-8452-8685-7175-54214129FC52}"/>
              </a:ext>
            </a:extLst>
          </p:cNvPr>
          <p:cNvSpPr/>
          <p:nvPr/>
        </p:nvSpPr>
        <p:spPr>
          <a:xfrm>
            <a:off x="0" y="0"/>
            <a:ext cx="4650685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Налягане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5AB10-8545-85F6-3AC9-75C1D26164E1}"/>
                  </a:ext>
                </a:extLst>
              </p:cNvPr>
              <p:cNvSpPr txBox="1"/>
              <p:nvPr/>
            </p:nvSpPr>
            <p:spPr>
              <a:xfrm>
                <a:off x="247035" y="2110389"/>
                <a:ext cx="231822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𝑔h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5AB10-8545-85F6-3AC9-75C1D2616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35" y="2110389"/>
                <a:ext cx="2318223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5F2F55-22FD-9261-5259-835583955FF3}"/>
                  </a:ext>
                </a:extLst>
              </p:cNvPr>
              <p:cNvSpPr txBox="1"/>
              <p:nvPr/>
            </p:nvSpPr>
            <p:spPr>
              <a:xfrm>
                <a:off x="247035" y="3073220"/>
                <a:ext cx="240423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𝑉h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5F2F55-22FD-9261-5259-835583955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35" y="3073220"/>
                <a:ext cx="240423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BB6FF0-4574-17F3-081B-77B4CD270206}"/>
                  </a:ext>
                </a:extLst>
              </p:cNvPr>
              <p:cNvSpPr txBox="1"/>
              <p:nvPr/>
            </p:nvSpPr>
            <p:spPr>
              <a:xfrm>
                <a:off x="247035" y="4036051"/>
                <a:ext cx="231822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bg-BG" sz="32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BB6FF0-4574-17F3-081B-77B4CD270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35" y="4036051"/>
                <a:ext cx="2318223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2C0369-9078-5D29-6325-05DA1CD2E2D2}"/>
                  </a:ext>
                </a:extLst>
              </p:cNvPr>
              <p:cNvSpPr txBox="1"/>
              <p:nvPr/>
            </p:nvSpPr>
            <p:spPr>
              <a:xfrm>
                <a:off x="247035" y="4998882"/>
                <a:ext cx="26031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bg-BG" sz="32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2C0369-9078-5D29-6325-05DA1CD2E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35" y="4998882"/>
                <a:ext cx="260316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artial Circle 5">
            <a:extLst>
              <a:ext uri="{FF2B5EF4-FFF2-40B4-BE49-F238E27FC236}">
                <a16:creationId xmlns:a16="http://schemas.microsoft.com/office/drawing/2014/main" id="{A9B52316-0D62-87F7-4AF9-B4A7F639DF64}"/>
              </a:ext>
            </a:extLst>
          </p:cNvPr>
          <p:cNvSpPr/>
          <p:nvPr/>
        </p:nvSpPr>
        <p:spPr>
          <a:xfrm>
            <a:off x="-880157" y="5996309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A8045-ED92-7ED8-B73F-80D1666FE7D1}"/>
              </a:ext>
            </a:extLst>
          </p:cNvPr>
          <p:cNvSpPr txBox="1"/>
          <p:nvPr/>
        </p:nvSpPr>
        <p:spPr>
          <a:xfrm>
            <a:off x="3062021" y="2110389"/>
            <a:ext cx="3117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налягане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D9C38-E9A2-3526-FCCE-D47BC5FCF7F8}"/>
              </a:ext>
            </a:extLst>
          </p:cNvPr>
          <p:cNvSpPr txBox="1"/>
          <p:nvPr/>
        </p:nvSpPr>
        <p:spPr>
          <a:xfrm>
            <a:off x="3062021" y="2999935"/>
            <a:ext cx="3117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err="1"/>
              <a:t>Архимедова</a:t>
            </a:r>
            <a:r>
              <a:rPr lang="bg-BG" sz="2800" dirty="0"/>
              <a:t> сила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3FB0B-EDF0-17FE-A666-399194C18C3B}"/>
              </a:ext>
            </a:extLst>
          </p:cNvPr>
          <p:cNvSpPr txBox="1"/>
          <p:nvPr/>
        </p:nvSpPr>
        <p:spPr>
          <a:xfrm>
            <a:off x="3062021" y="4412701"/>
            <a:ext cx="5412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работа при изменение на обем?</a:t>
            </a:r>
          </a:p>
        </p:txBody>
      </p:sp>
    </p:spTree>
    <p:extLst>
      <p:ext uri="{BB962C8B-B14F-4D97-AF65-F5344CB8AC3E}">
        <p14:creationId xmlns:p14="http://schemas.microsoft.com/office/powerpoint/2010/main" val="393180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C27F28-A2CD-63A4-56E4-CA0311F6643E}"/>
                  </a:ext>
                </a:extLst>
              </p:cNvPr>
              <p:cNvSpPr txBox="1"/>
              <p:nvPr/>
            </p:nvSpPr>
            <p:spPr>
              <a:xfrm>
                <a:off x="924512" y="751442"/>
                <a:ext cx="1117870" cy="922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C27F28-A2CD-63A4-56E4-CA0311F66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12" y="751442"/>
                <a:ext cx="1117870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2DF84E-6E9A-6F5F-21F7-C082B8C96075}"/>
                  </a:ext>
                </a:extLst>
              </p:cNvPr>
              <p:cNvSpPr txBox="1"/>
              <p:nvPr/>
            </p:nvSpPr>
            <p:spPr>
              <a:xfrm>
                <a:off x="924512" y="2237234"/>
                <a:ext cx="1398780" cy="1002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2DF84E-6E9A-6F5F-21F7-C082B8C96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12" y="2237234"/>
                <a:ext cx="1398780" cy="10025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7815F6F-3121-F188-0D4F-D2B6354E382D}"/>
              </a:ext>
            </a:extLst>
          </p:cNvPr>
          <p:cNvSpPr txBox="1"/>
          <p:nvPr/>
        </p:nvSpPr>
        <p:spPr>
          <a:xfrm>
            <a:off x="2978766" y="950920"/>
            <a:ext cx="3117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налягане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DE47E-4695-F5B3-2C8E-21A86B268B44}"/>
              </a:ext>
            </a:extLst>
          </p:cNvPr>
          <p:cNvSpPr txBox="1"/>
          <p:nvPr/>
        </p:nvSpPr>
        <p:spPr>
          <a:xfrm>
            <a:off x="2978766" y="2476883"/>
            <a:ext cx="7319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отношение сила към площ при налягане</a:t>
            </a:r>
          </a:p>
        </p:txBody>
      </p:sp>
    </p:spTree>
    <p:extLst>
      <p:ext uri="{BB962C8B-B14F-4D97-AF65-F5344CB8AC3E}">
        <p14:creationId xmlns:p14="http://schemas.microsoft.com/office/powerpoint/2010/main" val="189479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39A9-A108-69D5-C2D5-AC46AF8D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A3F3F5C-4528-B481-A2B3-C20222F87477}"/>
              </a:ext>
            </a:extLst>
          </p:cNvPr>
          <p:cNvSpPr/>
          <p:nvPr/>
        </p:nvSpPr>
        <p:spPr>
          <a:xfrm>
            <a:off x="0" y="0"/>
            <a:ext cx="4650685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Топлина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7D02A3-8835-85FF-E0D6-6B7E87FBF1F1}"/>
                  </a:ext>
                </a:extLst>
              </p:cNvPr>
              <p:cNvSpPr txBox="1"/>
              <p:nvPr/>
            </p:nvSpPr>
            <p:spPr>
              <a:xfrm>
                <a:off x="1060315" y="1841248"/>
                <a:ext cx="2490281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sty m:val="p"/>
                            </m:rPr>
                            <a:rPr lang="bg-BG" sz="32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7D02A3-8835-85FF-E0D6-6B7E87FBF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15" y="1841248"/>
                <a:ext cx="2490281" cy="9251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ED6676-7B36-A872-A212-F700B0C8E907}"/>
                  </a:ext>
                </a:extLst>
              </p:cNvPr>
              <p:cNvSpPr txBox="1"/>
              <p:nvPr/>
            </p:nvSpPr>
            <p:spPr>
              <a:xfrm>
                <a:off x="1202859" y="4353874"/>
                <a:ext cx="1736528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ED6676-7B36-A872-A212-F700B0C8E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859" y="4353874"/>
                <a:ext cx="1736528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89CEAF-9972-5AE7-A94E-B2B15355F636}"/>
                  </a:ext>
                </a:extLst>
              </p:cNvPr>
              <p:cNvSpPr txBox="1"/>
              <p:nvPr/>
            </p:nvSpPr>
            <p:spPr>
              <a:xfrm>
                <a:off x="1202859" y="3097561"/>
                <a:ext cx="1890672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89CEAF-9972-5AE7-A94E-B2B15355F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859" y="3097561"/>
                <a:ext cx="1890672" cy="925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DE5940-972B-97A2-449E-106FD453BFEF}"/>
                  </a:ext>
                </a:extLst>
              </p:cNvPr>
              <p:cNvSpPr txBox="1"/>
              <p:nvPr/>
            </p:nvSpPr>
            <p:spPr>
              <a:xfrm>
                <a:off x="1202859" y="5750087"/>
                <a:ext cx="256174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bg-BG" sz="320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DE5940-972B-97A2-449E-106FD453B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859" y="5750087"/>
                <a:ext cx="256174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artial Circle 2">
            <a:extLst>
              <a:ext uri="{FF2B5EF4-FFF2-40B4-BE49-F238E27FC236}">
                <a16:creationId xmlns:a16="http://schemas.microsoft.com/office/drawing/2014/main" id="{5436AEE9-9F61-4BF8-4DBA-405C735CBDB4}"/>
              </a:ext>
            </a:extLst>
          </p:cNvPr>
          <p:cNvSpPr/>
          <p:nvPr/>
        </p:nvSpPr>
        <p:spPr>
          <a:xfrm>
            <a:off x="-880157" y="5996309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25B80-14AF-E073-56EC-19CE1CA1CB11}"/>
              </a:ext>
            </a:extLst>
          </p:cNvPr>
          <p:cNvSpPr txBox="1"/>
          <p:nvPr/>
        </p:nvSpPr>
        <p:spPr>
          <a:xfrm>
            <a:off x="3764604" y="2042233"/>
            <a:ext cx="6268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специфичен топлинен капацитет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445E3-5511-51C4-57B6-5EF768BEC2A1}"/>
              </a:ext>
            </a:extLst>
          </p:cNvPr>
          <p:cNvSpPr txBox="1"/>
          <p:nvPr/>
        </p:nvSpPr>
        <p:spPr>
          <a:xfrm>
            <a:off x="3764604" y="3340005"/>
            <a:ext cx="704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специфична латентна топлина топене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B045F-A0AE-78E6-26FD-C6047CD7557B}"/>
              </a:ext>
            </a:extLst>
          </p:cNvPr>
          <p:cNvSpPr txBox="1"/>
          <p:nvPr/>
        </p:nvSpPr>
        <p:spPr>
          <a:xfrm>
            <a:off x="3764603" y="4554859"/>
            <a:ext cx="704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специфична топлина за </a:t>
            </a:r>
            <a:r>
              <a:rPr lang="bg-BG" sz="2800" dirty="0" err="1"/>
              <a:t>изрпарение</a:t>
            </a:r>
            <a:endParaRPr lang="bg-BG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4DC5B-B752-3BA0-F244-6F5E36E4ABA5}"/>
              </a:ext>
            </a:extLst>
          </p:cNvPr>
          <p:cNvSpPr txBox="1"/>
          <p:nvPr/>
        </p:nvSpPr>
        <p:spPr>
          <a:xfrm>
            <a:off x="3764602" y="5719310"/>
            <a:ext cx="704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изменение на вътрешната енергия</a:t>
            </a:r>
          </a:p>
        </p:txBody>
      </p:sp>
    </p:spTree>
    <p:extLst>
      <p:ext uri="{BB962C8B-B14F-4D97-AF65-F5344CB8AC3E}">
        <p14:creationId xmlns:p14="http://schemas.microsoft.com/office/powerpoint/2010/main" val="323192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35CEE6-3C61-6E20-C431-B43B267A5F4B}"/>
                  </a:ext>
                </a:extLst>
              </p:cNvPr>
              <p:cNvSpPr txBox="1"/>
              <p:nvPr/>
            </p:nvSpPr>
            <p:spPr>
              <a:xfrm>
                <a:off x="541049" y="955964"/>
                <a:ext cx="27537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+273,15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35CEE6-3C61-6E20-C431-B43B267A5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49" y="955964"/>
                <a:ext cx="275376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DB1294-22F8-84FE-53EC-4F9C259B188A}"/>
                  </a:ext>
                </a:extLst>
              </p:cNvPr>
              <p:cNvSpPr txBox="1"/>
              <p:nvPr/>
            </p:nvSpPr>
            <p:spPr>
              <a:xfrm>
                <a:off x="541049" y="2017416"/>
                <a:ext cx="30458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bg-BG" sz="320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bg-BG" sz="32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DB1294-22F8-84FE-53EC-4F9C259B1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49" y="2017416"/>
                <a:ext cx="3045834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F90AAD-B99E-B10E-FC0F-F6C10DA0D57E}"/>
                  </a:ext>
                </a:extLst>
              </p:cNvPr>
              <p:cNvSpPr txBox="1"/>
              <p:nvPr/>
            </p:nvSpPr>
            <p:spPr>
              <a:xfrm>
                <a:off x="541049" y="3078868"/>
                <a:ext cx="12305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bg-BG" sz="32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bg-BG" sz="32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bg-BG" sz="3200" dirty="0"/>
                  <a:t>∆</a:t>
                </a:r>
                <a:r>
                  <a:rPr lang="en-US" sz="3200" i="1" dirty="0"/>
                  <a:t>U</a:t>
                </a:r>
                <a:endParaRPr lang="bg-BG" sz="32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F90AAD-B99E-B10E-FC0F-F6C10DA0D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49" y="3078868"/>
                <a:ext cx="1230530" cy="492443"/>
              </a:xfrm>
              <a:prstGeom prst="rect">
                <a:avLst/>
              </a:prstGeom>
              <a:blipFill>
                <a:blip r:embed="rId4"/>
                <a:stretch>
                  <a:fillRect t="-23457" r="-19307" b="-506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B00A3B-E979-AA3C-7197-E79DCCA88E65}"/>
                  </a:ext>
                </a:extLst>
              </p:cNvPr>
              <p:cNvSpPr txBox="1"/>
              <p:nvPr/>
            </p:nvSpPr>
            <p:spPr>
              <a:xfrm>
                <a:off x="541049" y="4140320"/>
                <a:ext cx="18578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m:rPr>
                          <m:sty m:val="p"/>
                        </m:rPr>
                        <a:rPr lang="bg-BG" sz="32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B00A3B-E979-AA3C-7197-E79DCCA88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49" y="4140320"/>
                <a:ext cx="1857881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269DE08-F538-4F0E-9F28-3CAC0F9F5625}"/>
              </a:ext>
            </a:extLst>
          </p:cNvPr>
          <p:cNvSpPr txBox="1"/>
          <p:nvPr/>
        </p:nvSpPr>
        <p:spPr>
          <a:xfrm>
            <a:off x="4260715" y="1389027"/>
            <a:ext cx="704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отношение Келвин към </a:t>
            </a:r>
            <a:r>
              <a:rPr lang="bg-BG" sz="2800" dirty="0" err="1"/>
              <a:t>Целзии</a:t>
            </a:r>
            <a:endParaRPr lang="bg-BG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DAF32-FE48-496D-729F-E04DFF1552C6}"/>
              </a:ext>
            </a:extLst>
          </p:cNvPr>
          <p:cNvSpPr txBox="1"/>
          <p:nvPr/>
        </p:nvSpPr>
        <p:spPr>
          <a:xfrm>
            <a:off x="4260715" y="3063479"/>
            <a:ext cx="704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топлина  - ако няма работа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88F47-2869-D901-2185-B9DF551375BA}"/>
              </a:ext>
            </a:extLst>
          </p:cNvPr>
          <p:cNvSpPr txBox="1"/>
          <p:nvPr/>
        </p:nvSpPr>
        <p:spPr>
          <a:xfrm>
            <a:off x="4260714" y="4109543"/>
            <a:ext cx="704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топлина за нагряване на тяло</a:t>
            </a:r>
          </a:p>
        </p:txBody>
      </p:sp>
    </p:spTree>
    <p:extLst>
      <p:ext uri="{BB962C8B-B14F-4D97-AF65-F5344CB8AC3E}">
        <p14:creationId xmlns:p14="http://schemas.microsoft.com/office/powerpoint/2010/main" val="1166881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2E9D-12FC-2ACC-78BB-CD5E5A51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3E980BA-0749-9F3F-A7C5-CA6F3ACE7BFA}"/>
              </a:ext>
            </a:extLst>
          </p:cNvPr>
          <p:cNvSpPr/>
          <p:nvPr/>
        </p:nvSpPr>
        <p:spPr>
          <a:xfrm>
            <a:off x="0" y="0"/>
            <a:ext cx="9829800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Термодинамични процеси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76B9D9-368F-AD11-5F7A-F8A59706C56C}"/>
                  </a:ext>
                </a:extLst>
              </p:cNvPr>
              <p:cNvSpPr txBox="1"/>
              <p:nvPr/>
            </p:nvSpPr>
            <p:spPr>
              <a:xfrm>
                <a:off x="4782365" y="2585408"/>
                <a:ext cx="1890902" cy="918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𝑜𝑛𝑠𝑡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76B9D9-368F-AD11-5F7A-F8A59706C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365" y="2585408"/>
                <a:ext cx="1890902" cy="9187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DEB754-4B4A-34FE-AA70-BD22EDA33B2E}"/>
                  </a:ext>
                </a:extLst>
              </p:cNvPr>
              <p:cNvSpPr txBox="1"/>
              <p:nvPr/>
            </p:nvSpPr>
            <p:spPr>
              <a:xfrm>
                <a:off x="709070" y="2756710"/>
                <a:ext cx="21201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𝑜𝑛𝑠𝑡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DEB754-4B4A-34FE-AA70-BD22EDA33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70" y="2756710"/>
                <a:ext cx="212013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CC16FF-455F-E383-6F5A-44E635461244}"/>
                  </a:ext>
                </a:extLst>
              </p:cNvPr>
              <p:cNvSpPr txBox="1"/>
              <p:nvPr/>
            </p:nvSpPr>
            <p:spPr>
              <a:xfrm>
                <a:off x="8667344" y="2588770"/>
                <a:ext cx="1874103" cy="840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𝑜𝑛𝑠𝑡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CC16FF-455F-E383-6F5A-44E635461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344" y="2588770"/>
                <a:ext cx="1874103" cy="840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47349B-3FBD-BD5C-D6A8-D0C1F337E912}"/>
                  </a:ext>
                </a:extLst>
              </p:cNvPr>
              <p:cNvSpPr txBox="1"/>
              <p:nvPr/>
            </p:nvSpPr>
            <p:spPr>
              <a:xfrm>
                <a:off x="709070" y="3748698"/>
                <a:ext cx="236081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3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bg-BG" sz="32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bg-BG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bg-BG" sz="3200" i="0">
                            <a:latin typeface="Cambria Math" panose="02040503050406030204" pitchFamily="18" charset="0"/>
                          </a:rPr>
                          <m:t>1=</m:t>
                        </m:r>
                      </m:sub>
                    </m:sSub>
                  </m:oMath>
                </a14:m>
                <a:r>
                  <a:rPr lang="bg-BG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3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bg-BG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47349B-3FBD-BD5C-D6A8-D0C1F337E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70" y="3748698"/>
                <a:ext cx="236081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CD340C-4405-0956-9BF3-26F7240541E4}"/>
                  </a:ext>
                </a:extLst>
              </p:cNvPr>
              <p:cNvSpPr txBox="1"/>
              <p:nvPr/>
            </p:nvSpPr>
            <p:spPr>
              <a:xfrm>
                <a:off x="4782365" y="3969285"/>
                <a:ext cx="1392369" cy="1002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CD340C-4405-0956-9BF3-26F724054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365" y="3969285"/>
                <a:ext cx="1392369" cy="10025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1E468D-0BC3-0464-3E01-524D651F028B}"/>
                  </a:ext>
                </a:extLst>
              </p:cNvPr>
              <p:cNvSpPr txBox="1"/>
              <p:nvPr/>
            </p:nvSpPr>
            <p:spPr>
              <a:xfrm>
                <a:off x="8775393" y="3813203"/>
                <a:ext cx="1420838" cy="9239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1E468D-0BC3-0464-3E01-524D651F0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393" y="3813203"/>
                <a:ext cx="1420838" cy="9239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E5936E-EA48-B896-D13E-ECCE1630DC0A}"/>
                  </a:ext>
                </a:extLst>
              </p:cNvPr>
              <p:cNvSpPr txBox="1"/>
              <p:nvPr/>
            </p:nvSpPr>
            <p:spPr>
              <a:xfrm>
                <a:off x="1889477" y="5493446"/>
                <a:ext cx="2015039" cy="1005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E5936E-EA48-B896-D13E-ECCE1630D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477" y="5493446"/>
                <a:ext cx="2015039" cy="10057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artial Circle 8">
            <a:extLst>
              <a:ext uri="{FF2B5EF4-FFF2-40B4-BE49-F238E27FC236}">
                <a16:creationId xmlns:a16="http://schemas.microsoft.com/office/drawing/2014/main" id="{9433E5E4-00A1-8B78-C904-4F6F5C401763}"/>
              </a:ext>
            </a:extLst>
          </p:cNvPr>
          <p:cNvSpPr/>
          <p:nvPr/>
        </p:nvSpPr>
        <p:spPr>
          <a:xfrm>
            <a:off x="-880157" y="5996309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9CDCD-54F0-37D0-1892-4F3083BB0662}"/>
              </a:ext>
            </a:extLst>
          </p:cNvPr>
          <p:cNvSpPr txBox="1"/>
          <p:nvPr/>
        </p:nvSpPr>
        <p:spPr>
          <a:xfrm>
            <a:off x="738489" y="1843350"/>
            <a:ext cx="233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err="1"/>
              <a:t>изотермен</a:t>
            </a:r>
            <a:endParaRPr lang="bg-BG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5CE0D-2918-7BA5-AED7-9842E172269D}"/>
              </a:ext>
            </a:extLst>
          </p:cNvPr>
          <p:cNvSpPr txBox="1"/>
          <p:nvPr/>
        </p:nvSpPr>
        <p:spPr>
          <a:xfrm>
            <a:off x="4782365" y="1811717"/>
            <a:ext cx="233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изобарен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9FCEF-94D3-93AC-3E1B-5C79CA1A8CDB}"/>
              </a:ext>
            </a:extLst>
          </p:cNvPr>
          <p:cNvSpPr txBox="1"/>
          <p:nvPr/>
        </p:nvSpPr>
        <p:spPr>
          <a:xfrm>
            <a:off x="8775393" y="1811717"/>
            <a:ext cx="2101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err="1"/>
              <a:t>изохорен</a:t>
            </a:r>
            <a:endParaRPr lang="bg-BG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1B7A2-73A7-A787-05DD-84D0CF932519}"/>
              </a:ext>
            </a:extLst>
          </p:cNvPr>
          <p:cNvSpPr txBox="1"/>
          <p:nvPr/>
        </p:nvSpPr>
        <p:spPr>
          <a:xfrm>
            <a:off x="4406630" y="5734698"/>
            <a:ext cx="704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КПД – коефициент на полезно действие</a:t>
            </a:r>
          </a:p>
        </p:txBody>
      </p:sp>
    </p:spTree>
    <p:extLst>
      <p:ext uri="{BB962C8B-B14F-4D97-AF65-F5344CB8AC3E}">
        <p14:creationId xmlns:p14="http://schemas.microsoft.com/office/powerpoint/2010/main" val="122809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C40E-FB23-84A8-AC32-F5CB2081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17D7E9D-64AD-A451-FF0B-38D7A7F9AFAE}"/>
              </a:ext>
            </a:extLst>
          </p:cNvPr>
          <p:cNvSpPr/>
          <p:nvPr/>
        </p:nvSpPr>
        <p:spPr>
          <a:xfrm>
            <a:off x="0" y="0"/>
            <a:ext cx="8382000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Трептене и вълни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FD64D7-09EC-5FB2-9C1B-18FAE2A97197}"/>
                  </a:ext>
                </a:extLst>
              </p:cNvPr>
              <p:cNvSpPr txBox="1"/>
              <p:nvPr/>
            </p:nvSpPr>
            <p:spPr>
              <a:xfrm>
                <a:off x="429594" y="3458545"/>
                <a:ext cx="1917192" cy="1455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sz="3200" i="1" smtClean="0">
                          <a:latin typeface="Cambria Math" panose="02040503050406030204" pitchFamily="18" charset="0"/>
                        </a:rPr>
                        <m:t>π</m:t>
                      </m:r>
                      <m:rad>
                        <m:radPr>
                          <m:degHide m:val="on"/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FD64D7-09EC-5FB2-9C1B-18FAE2A97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94" y="3458545"/>
                <a:ext cx="1917192" cy="14550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422E50-4B87-3B06-F908-EA4282C19838}"/>
                  </a:ext>
                </a:extLst>
              </p:cNvPr>
              <p:cNvSpPr txBox="1"/>
              <p:nvPr/>
            </p:nvSpPr>
            <p:spPr>
              <a:xfrm>
                <a:off x="429594" y="2008403"/>
                <a:ext cx="2004331" cy="10021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sz="3200" i="1" smtClean="0">
                          <a:latin typeface="Cambria Math" panose="02040503050406030204" pitchFamily="18" charset="0"/>
                        </a:rPr>
                        <m:t>π</m:t>
                      </m:r>
                      <m:rad>
                        <m:radPr>
                          <m:degHide m:val="on"/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422E50-4B87-3B06-F908-EA4282C19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94" y="2008403"/>
                <a:ext cx="2004331" cy="10021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B7ADE8-9582-6397-70C2-2BA735CB0092}"/>
                  </a:ext>
                </a:extLst>
              </p:cNvPr>
              <p:cNvSpPr txBox="1"/>
              <p:nvPr/>
            </p:nvSpPr>
            <p:spPr>
              <a:xfrm>
                <a:off x="6290765" y="2008403"/>
                <a:ext cx="1956369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bg-BG" sz="3200" i="1">
                          <a:latin typeface="Cambria Math" panose="02040503050406030204" pitchFamily="18" charset="0"/>
                        </a:rPr>
                        <m:t>𝜅</m:t>
                      </m:r>
                      <m:sSup>
                        <m:sSup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B7ADE8-9582-6397-70C2-2BA735CB0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765" y="2008403"/>
                <a:ext cx="1956369" cy="921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D349C7-85B5-9316-172A-E85D49BE8B98}"/>
                  </a:ext>
                </a:extLst>
              </p:cNvPr>
              <p:cNvSpPr txBox="1"/>
              <p:nvPr/>
            </p:nvSpPr>
            <p:spPr>
              <a:xfrm>
                <a:off x="6290765" y="3528564"/>
                <a:ext cx="131170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D349C7-85B5-9316-172A-E85D49BE8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765" y="3528564"/>
                <a:ext cx="131170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632A1A-3804-399B-E1F2-B4F86C713EE4}"/>
                  </a:ext>
                </a:extLst>
              </p:cNvPr>
              <p:cNvSpPr txBox="1"/>
              <p:nvPr/>
            </p:nvSpPr>
            <p:spPr>
              <a:xfrm>
                <a:off x="6337497" y="4452567"/>
                <a:ext cx="1161536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632A1A-3804-399B-E1F2-B4F86C713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497" y="4452567"/>
                <a:ext cx="1161536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C9BBC6-A233-FA39-AE0F-37B28A23B3EC}"/>
                  </a:ext>
                </a:extLst>
              </p:cNvPr>
              <p:cNvSpPr txBox="1"/>
              <p:nvPr/>
            </p:nvSpPr>
            <p:spPr>
              <a:xfrm>
                <a:off x="429594" y="5503866"/>
                <a:ext cx="13401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𝑘𝑥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C9BBC6-A233-FA39-AE0F-37B28A23B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94" y="5503866"/>
                <a:ext cx="1340110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artial Circle 2">
            <a:extLst>
              <a:ext uri="{FF2B5EF4-FFF2-40B4-BE49-F238E27FC236}">
                <a16:creationId xmlns:a16="http://schemas.microsoft.com/office/drawing/2014/main" id="{B75124DC-C529-2714-910F-74ACC3F7C51B}"/>
              </a:ext>
            </a:extLst>
          </p:cNvPr>
          <p:cNvSpPr/>
          <p:nvPr/>
        </p:nvSpPr>
        <p:spPr>
          <a:xfrm>
            <a:off x="-880157" y="5996309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0CA4D-620E-D52F-5981-7BB9C6F7FDB4}"/>
              </a:ext>
            </a:extLst>
          </p:cNvPr>
          <p:cNvSpPr txBox="1"/>
          <p:nvPr/>
        </p:nvSpPr>
        <p:spPr>
          <a:xfrm>
            <a:off x="2572395" y="3528564"/>
            <a:ext cx="32358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период </a:t>
            </a:r>
          </a:p>
          <a:p>
            <a:r>
              <a:rPr lang="bg-BG" sz="2800" dirty="0"/>
              <a:t>математично махало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7B798-E1CF-673D-4B44-72FD35A340AF}"/>
              </a:ext>
            </a:extLst>
          </p:cNvPr>
          <p:cNvSpPr txBox="1"/>
          <p:nvPr/>
        </p:nvSpPr>
        <p:spPr>
          <a:xfrm>
            <a:off x="2573070" y="2008403"/>
            <a:ext cx="3235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период </a:t>
            </a:r>
          </a:p>
          <a:p>
            <a:r>
              <a:rPr lang="bg-BG" sz="2800" dirty="0"/>
              <a:t>пружинно махало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B1A65-ABED-395F-ED97-58350E393510}"/>
              </a:ext>
            </a:extLst>
          </p:cNvPr>
          <p:cNvSpPr txBox="1"/>
          <p:nvPr/>
        </p:nvSpPr>
        <p:spPr>
          <a:xfrm>
            <a:off x="2530242" y="5367679"/>
            <a:ext cx="36620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еластична сила на пружина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45558-E401-A8FD-2377-70DA7DF83C19}"/>
              </a:ext>
            </a:extLst>
          </p:cNvPr>
          <p:cNvSpPr txBox="1"/>
          <p:nvPr/>
        </p:nvSpPr>
        <p:spPr>
          <a:xfrm>
            <a:off x="8469549" y="2003977"/>
            <a:ext cx="35914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потенциална енергия на пружина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9179A1-A03E-563C-6C57-6C839823343B}"/>
              </a:ext>
            </a:extLst>
          </p:cNvPr>
          <p:cNvSpPr txBox="1"/>
          <p:nvPr/>
        </p:nvSpPr>
        <p:spPr>
          <a:xfrm>
            <a:off x="8469549" y="3510667"/>
            <a:ext cx="3235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скорост на вълна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C167D9-53FD-DC7D-EB47-C76CC5FA2ACE}"/>
              </a:ext>
            </a:extLst>
          </p:cNvPr>
          <p:cNvSpPr txBox="1"/>
          <p:nvPr/>
        </p:nvSpPr>
        <p:spPr>
          <a:xfrm>
            <a:off x="8469549" y="4452567"/>
            <a:ext cx="3235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интензитет на вълна</a:t>
            </a:r>
          </a:p>
        </p:txBody>
      </p:sp>
    </p:spTree>
    <p:extLst>
      <p:ext uri="{BB962C8B-B14F-4D97-AF65-F5344CB8AC3E}">
        <p14:creationId xmlns:p14="http://schemas.microsoft.com/office/powerpoint/2010/main" val="2765290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59DE4F-2B82-CD71-ADE3-65854FA1093C}"/>
                  </a:ext>
                </a:extLst>
              </p:cNvPr>
              <p:cNvSpPr txBox="1"/>
              <p:nvPr/>
            </p:nvSpPr>
            <p:spPr>
              <a:xfrm>
                <a:off x="2113535" y="477960"/>
                <a:ext cx="1393373" cy="10093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59DE4F-2B82-CD71-ADE3-65854FA10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535" y="477960"/>
                <a:ext cx="1393373" cy="10093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0B5C8A-338C-D249-BEFF-4083EB45EBC3}"/>
                  </a:ext>
                </a:extLst>
              </p:cNvPr>
              <p:cNvSpPr txBox="1"/>
              <p:nvPr/>
            </p:nvSpPr>
            <p:spPr>
              <a:xfrm>
                <a:off x="391885" y="537881"/>
                <a:ext cx="1393372" cy="8894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0B5C8A-338C-D249-BEFF-4083EB45E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5" y="537881"/>
                <a:ext cx="1393372" cy="8894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0B113B-62B1-2747-4C12-84E9B3EB7E6B}"/>
                  </a:ext>
                </a:extLst>
              </p:cNvPr>
              <p:cNvSpPr txBox="1"/>
              <p:nvPr/>
            </p:nvSpPr>
            <p:spPr>
              <a:xfrm>
                <a:off x="514187" y="2010324"/>
                <a:ext cx="1867499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0B113B-62B1-2747-4C12-84E9B3EB7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87" y="2010324"/>
                <a:ext cx="1867499" cy="925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DB1327C-AF3F-930C-4722-D944EF52B7CE}"/>
              </a:ext>
            </a:extLst>
          </p:cNvPr>
          <p:cNvSpPr txBox="1"/>
          <p:nvPr/>
        </p:nvSpPr>
        <p:spPr>
          <a:xfrm>
            <a:off x="4042691" y="721007"/>
            <a:ext cx="170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период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2814A-DCB1-F3FD-05F1-7D50752AA55A}"/>
              </a:ext>
            </a:extLst>
          </p:cNvPr>
          <p:cNvSpPr txBox="1"/>
          <p:nvPr/>
        </p:nvSpPr>
        <p:spPr>
          <a:xfrm>
            <a:off x="4042691" y="2412294"/>
            <a:ext cx="170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честота</a:t>
            </a:r>
          </a:p>
        </p:txBody>
      </p:sp>
    </p:spTree>
    <p:extLst>
      <p:ext uri="{BB962C8B-B14F-4D97-AF65-F5344CB8AC3E}">
        <p14:creationId xmlns:p14="http://schemas.microsoft.com/office/powerpoint/2010/main" val="3084187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F7DF7-DA3D-CCF4-DFF8-DAC54454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08B6A05-0094-CD8B-6787-DE5C607E401A}"/>
              </a:ext>
            </a:extLst>
          </p:cNvPr>
          <p:cNvSpPr/>
          <p:nvPr/>
        </p:nvSpPr>
        <p:spPr>
          <a:xfrm>
            <a:off x="0" y="0"/>
            <a:ext cx="4650685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Заряд/ток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599519-394A-0490-FF8F-F523208FA349}"/>
                  </a:ext>
                </a:extLst>
              </p:cNvPr>
              <p:cNvSpPr txBox="1"/>
              <p:nvPr/>
            </p:nvSpPr>
            <p:spPr>
              <a:xfrm>
                <a:off x="813592" y="2378939"/>
                <a:ext cx="1019702" cy="8434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599519-394A-0490-FF8F-F523208FA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92" y="2378939"/>
                <a:ext cx="1019702" cy="8434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4350335-EC26-28E4-D5D7-AE69A0F01797}"/>
              </a:ext>
            </a:extLst>
          </p:cNvPr>
          <p:cNvSpPr txBox="1"/>
          <p:nvPr/>
        </p:nvSpPr>
        <p:spPr>
          <a:xfrm>
            <a:off x="2228381" y="2539047"/>
            <a:ext cx="7997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големина на тока изразено от заряд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B87603-572B-BBF4-F785-0FC26DF56E9F}"/>
                  </a:ext>
                </a:extLst>
              </p:cNvPr>
              <p:cNvSpPr txBox="1"/>
              <p:nvPr/>
            </p:nvSpPr>
            <p:spPr>
              <a:xfrm>
                <a:off x="5136777" y="721169"/>
                <a:ext cx="36306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smtClean="0">
                          <a:latin typeface="Cambria Math" panose="02040503050406030204" pitchFamily="18" charset="0"/>
                        </a:rPr>
                        <m:t>ⅇ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=1,6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022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−19</m:t>
                          </m:r>
                        </m:sup>
                      </m:sSup>
                      <m:r>
                        <a:rPr lang="bg-BG" sz="32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B87603-572B-BBF4-F785-0FC26DF56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777" y="721169"/>
                <a:ext cx="363060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50F6DB-06A1-31D3-AA46-8729564C996B}"/>
                  </a:ext>
                </a:extLst>
              </p:cNvPr>
              <p:cNvSpPr txBox="1"/>
              <p:nvPr/>
            </p:nvSpPr>
            <p:spPr>
              <a:xfrm>
                <a:off x="5136777" y="1337194"/>
                <a:ext cx="160037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=±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ⅇ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50F6DB-06A1-31D3-AA46-8729564C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777" y="1337194"/>
                <a:ext cx="1600375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8EACE3-B6D9-006E-BB20-3C03F3258228}"/>
                  </a:ext>
                </a:extLst>
              </p:cNvPr>
              <p:cNvSpPr txBox="1"/>
              <p:nvPr/>
            </p:nvSpPr>
            <p:spPr>
              <a:xfrm>
                <a:off x="564776" y="3682856"/>
                <a:ext cx="1987403" cy="840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8EACE3-B6D9-006E-BB20-3C03F3258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76" y="3682856"/>
                <a:ext cx="1987403" cy="8402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6012740-70B9-A12B-894A-C2B5223D3B68}"/>
              </a:ext>
            </a:extLst>
          </p:cNvPr>
          <p:cNvSpPr txBox="1"/>
          <p:nvPr/>
        </p:nvSpPr>
        <p:spPr>
          <a:xfrm>
            <a:off x="3132390" y="3841361"/>
            <a:ext cx="7997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err="1"/>
              <a:t>Кулонова</a:t>
            </a:r>
            <a:r>
              <a:rPr lang="bg-BG" sz="2800" dirty="0"/>
              <a:t> сила между 2 заряда</a:t>
            </a:r>
          </a:p>
        </p:txBody>
      </p:sp>
    </p:spTree>
    <p:extLst>
      <p:ext uri="{BB962C8B-B14F-4D97-AF65-F5344CB8AC3E}">
        <p14:creationId xmlns:p14="http://schemas.microsoft.com/office/powerpoint/2010/main" val="283794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4228-826D-13D0-2A31-C48D70F2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4209FB-4B72-FF62-3BFF-3DB61BDCAC7C}"/>
                  </a:ext>
                </a:extLst>
              </p:cNvPr>
              <p:cNvSpPr txBox="1"/>
              <p:nvPr/>
            </p:nvSpPr>
            <p:spPr>
              <a:xfrm>
                <a:off x="561600" y="4844904"/>
                <a:ext cx="1375756" cy="1280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bg-BG" sz="32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sz="32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sz="32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bg-BG" sz="3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4209FB-4B72-FF62-3BFF-3DB61BDCA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00" y="4844904"/>
                <a:ext cx="1375756" cy="12808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D843FC-8E1D-1DBB-7815-DFF3FA2D04F2}"/>
                  </a:ext>
                </a:extLst>
              </p:cNvPr>
              <p:cNvSpPr txBox="1"/>
              <p:nvPr/>
            </p:nvSpPr>
            <p:spPr>
              <a:xfrm>
                <a:off x="257590" y="1779873"/>
                <a:ext cx="1983776" cy="1376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kern="100" dirty="0" smtClean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3200" i="1" kern="100" dirty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kern="100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kern="100" dirty="0" smtClean="0">
                              <a:effectLst/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3200" i="1" kern="100" dirty="0" smtClean="0">
                              <a:effectLst/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bg-BG" sz="3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D843FC-8E1D-1DBB-7815-DFF3FA2D0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90" y="1779873"/>
                <a:ext cx="1983776" cy="13762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29D1B85-2FB6-62AD-8D5B-D4F5274704B7}"/>
              </a:ext>
            </a:extLst>
          </p:cNvPr>
          <p:cNvSpPr txBox="1"/>
          <p:nvPr/>
        </p:nvSpPr>
        <p:spPr>
          <a:xfrm>
            <a:off x="7306192" y="1301269"/>
            <a:ext cx="2592298" cy="62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3200" i="1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∆E</a:t>
            </a:r>
            <a:r>
              <a:rPr lang="en-US" sz="3200" i="1" kern="100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 </a:t>
            </a:r>
            <a:r>
              <a:rPr lang="en-US" sz="3200" i="1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q</a:t>
            </a:r>
            <a:r>
              <a:rPr lang="en-US" sz="3200" i="1" kern="100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bg-BG" sz="3200" i="1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</a:t>
            </a:r>
            <a:r>
              <a:rPr lang="en-US" sz="3200" i="1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</a:t>
            </a:r>
            <a:endParaRPr lang="bg-BG" sz="3200" i="1" kern="1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137C9-9D5D-CFE3-4460-D33CDE38D8F2}"/>
              </a:ext>
            </a:extLst>
          </p:cNvPr>
          <p:cNvSpPr txBox="1"/>
          <p:nvPr/>
        </p:nvSpPr>
        <p:spPr>
          <a:xfrm>
            <a:off x="7306192" y="3117600"/>
            <a:ext cx="3062547" cy="62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3200" i="1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∆E</a:t>
            </a:r>
            <a:r>
              <a:rPr lang="en-US" sz="3200" i="1" kern="100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 = </a:t>
            </a:r>
            <a:r>
              <a:rPr lang="en-US" sz="3200" i="1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</a:t>
            </a:r>
            <a:r>
              <a:rPr lang="en-US" sz="3200" i="1" kern="100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 </a:t>
            </a:r>
            <a:r>
              <a:rPr lang="en-US" sz="3200" i="1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 E</a:t>
            </a:r>
            <a:r>
              <a:rPr lang="en-US" sz="3200" i="1" kern="100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k0</a:t>
            </a:r>
            <a:endParaRPr lang="bg-BG" sz="3200" i="1" kern="1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B87FA-8EBE-BFE3-00A1-CC2E08DFA64D}"/>
              </a:ext>
            </a:extLst>
          </p:cNvPr>
          <p:cNvSpPr txBox="1"/>
          <p:nvPr/>
        </p:nvSpPr>
        <p:spPr>
          <a:xfrm>
            <a:off x="7940284" y="5291315"/>
            <a:ext cx="1794362" cy="62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3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q</a:t>
            </a:r>
            <a:r>
              <a:rPr lang="en-US" sz="3200" kern="1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bg-BG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 </a:t>
            </a:r>
            <a:endParaRPr lang="bg-BG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F78FC6F-A540-D984-6057-3A6529D78A6E}"/>
              </a:ext>
            </a:extLst>
          </p:cNvPr>
          <p:cNvSpPr/>
          <p:nvPr/>
        </p:nvSpPr>
        <p:spPr>
          <a:xfrm>
            <a:off x="0" y="0"/>
            <a:ext cx="6348574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Електрично поле </a:t>
            </a:r>
          </a:p>
        </p:txBody>
      </p:sp>
      <p:sp>
        <p:nvSpPr>
          <p:cNvPr id="2" name="Partial Circle 1">
            <a:extLst>
              <a:ext uri="{FF2B5EF4-FFF2-40B4-BE49-F238E27FC236}">
                <a16:creationId xmlns:a16="http://schemas.microsoft.com/office/drawing/2014/main" id="{D7E16511-ACD0-3D27-4D5C-EE59219D43C5}"/>
              </a:ext>
            </a:extLst>
          </p:cNvPr>
          <p:cNvSpPr/>
          <p:nvPr/>
        </p:nvSpPr>
        <p:spPr>
          <a:xfrm>
            <a:off x="-880157" y="5996309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D0A65A-EA05-4029-8D66-657EDAF79B1E}"/>
                  </a:ext>
                </a:extLst>
              </p:cNvPr>
              <p:cNvSpPr txBox="1"/>
              <p:nvPr/>
            </p:nvSpPr>
            <p:spPr>
              <a:xfrm>
                <a:off x="394138" y="3429000"/>
                <a:ext cx="1987932" cy="786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kern="100" dirty="0" smtClean="0">
                          <a:effectLst/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200" i="1" kern="100" dirty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 kern="100" dirty="0" smtClean="0">
                          <a:effectLst/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bg-BG" sz="3200" b="0" i="1" kern="100" dirty="0" smtClean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i="1" kern="100" dirty="0" smtClean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bg-BG" sz="3200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D0A65A-EA05-4029-8D66-657EDAF79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38" y="3429000"/>
                <a:ext cx="1987932" cy="7868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B751F51-6317-0D25-D7E3-AD0C2532613E}"/>
              </a:ext>
            </a:extLst>
          </p:cNvPr>
          <p:cNvSpPr txBox="1"/>
          <p:nvPr/>
        </p:nvSpPr>
        <p:spPr>
          <a:xfrm>
            <a:off x="2212475" y="1746529"/>
            <a:ext cx="32358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интензитет на електростатично поле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0BF35-EDF3-F432-D028-97E90114905B}"/>
              </a:ext>
            </a:extLst>
          </p:cNvPr>
          <p:cNvSpPr txBox="1"/>
          <p:nvPr/>
        </p:nvSpPr>
        <p:spPr>
          <a:xfrm>
            <a:off x="2241366" y="4844904"/>
            <a:ext cx="32358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зависимост на интензитета от напрежението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CAEDF-B613-1701-39F9-BC34D7AB10D3}"/>
              </a:ext>
            </a:extLst>
          </p:cNvPr>
          <p:cNvSpPr txBox="1"/>
          <p:nvPr/>
        </p:nvSpPr>
        <p:spPr>
          <a:xfrm>
            <a:off x="2241366" y="3521593"/>
            <a:ext cx="3235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изразена сила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BBCFE8-A419-3028-3D92-736E8DE54E46}"/>
              </a:ext>
            </a:extLst>
          </p:cNvPr>
          <p:cNvSpPr txBox="1"/>
          <p:nvPr/>
        </p:nvSpPr>
        <p:spPr>
          <a:xfrm>
            <a:off x="5988618" y="4844904"/>
            <a:ext cx="6057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електрична потенциална енергия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232E26-D119-BCE8-F92A-1244184B36CB}"/>
              </a:ext>
            </a:extLst>
          </p:cNvPr>
          <p:cNvSpPr txBox="1"/>
          <p:nvPr/>
        </p:nvSpPr>
        <p:spPr>
          <a:xfrm>
            <a:off x="5920781" y="2632864"/>
            <a:ext cx="6498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изменение в кинетичната енергия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294716-1BC7-B616-BE58-66E91417F7AD}"/>
              </a:ext>
            </a:extLst>
          </p:cNvPr>
          <p:cNvSpPr txBox="1"/>
          <p:nvPr/>
        </p:nvSpPr>
        <p:spPr>
          <a:xfrm>
            <a:off x="6348574" y="466832"/>
            <a:ext cx="56972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изменение в кинетичната енергия изразено с напрежение и заряд</a:t>
            </a:r>
          </a:p>
        </p:txBody>
      </p:sp>
    </p:spTree>
    <p:extLst>
      <p:ext uri="{BB962C8B-B14F-4D97-AF65-F5344CB8AC3E}">
        <p14:creationId xmlns:p14="http://schemas.microsoft.com/office/powerpoint/2010/main" val="1487242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4AEF4B-68E2-75AA-6FBC-E7E8622DC927}"/>
                  </a:ext>
                </a:extLst>
              </p:cNvPr>
              <p:cNvSpPr txBox="1"/>
              <p:nvPr/>
            </p:nvSpPr>
            <p:spPr>
              <a:xfrm>
                <a:off x="493059" y="591671"/>
                <a:ext cx="1602362" cy="8402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p>
                            <m:s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4AEF4B-68E2-75AA-6FBC-E7E8622DC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59" y="591671"/>
                <a:ext cx="1602362" cy="8402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9AF2EE9-0751-C5FC-A6B6-84014FF88202}"/>
              </a:ext>
            </a:extLst>
          </p:cNvPr>
          <p:cNvSpPr txBox="1"/>
          <p:nvPr/>
        </p:nvSpPr>
        <p:spPr>
          <a:xfrm>
            <a:off x="2492284" y="714725"/>
            <a:ext cx="6185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интензитет на поле на точков заряд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E24BF2-FC73-0163-AB0B-97BC50029D76}"/>
                  </a:ext>
                </a:extLst>
              </p:cNvPr>
              <p:cNvSpPr txBox="1"/>
              <p:nvPr/>
            </p:nvSpPr>
            <p:spPr>
              <a:xfrm>
                <a:off x="493059" y="1575470"/>
                <a:ext cx="3552576" cy="679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=9.1</m:t>
                      </m:r>
                      <m:sSup>
                        <m:sSup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bg-BG" sz="3200" i="1">
                          <a:latin typeface="Cambria Math" panose="02040503050406030204" pitchFamily="18" charset="0"/>
                        </a:rPr>
                        <m:t>𝑁𝑚</m:t>
                      </m:r>
                      <m:f>
                        <m:fPr>
                          <m:type m:val="skw"/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E24BF2-FC73-0163-AB0B-97BC50029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59" y="1575470"/>
                <a:ext cx="3552576" cy="6794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A84CCD5-6919-0FFE-96B5-D4D86A31B876}"/>
              </a:ext>
            </a:extLst>
          </p:cNvPr>
          <p:cNvSpPr txBox="1"/>
          <p:nvPr/>
        </p:nvSpPr>
        <p:spPr>
          <a:xfrm>
            <a:off x="4258331" y="1686556"/>
            <a:ext cx="6185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коефициент на пропорционалност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B4E9D9-6591-E787-364E-BA1A85864F91}"/>
                  </a:ext>
                </a:extLst>
              </p:cNvPr>
              <p:cNvSpPr txBox="1"/>
              <p:nvPr/>
            </p:nvSpPr>
            <p:spPr>
              <a:xfrm>
                <a:off x="493059" y="2398456"/>
                <a:ext cx="1309269" cy="1005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B4E9D9-6591-E787-364E-BA1A85864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59" y="2398456"/>
                <a:ext cx="1309269" cy="1005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8E4D000-AC01-DD21-2B8A-0AB0DD059557}"/>
              </a:ext>
            </a:extLst>
          </p:cNvPr>
          <p:cNvSpPr txBox="1"/>
          <p:nvPr/>
        </p:nvSpPr>
        <p:spPr>
          <a:xfrm>
            <a:off x="2492284" y="2823409"/>
            <a:ext cx="2079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потенциал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C64A94-8D77-AD13-7E31-3C93516A458C}"/>
              </a:ext>
            </a:extLst>
          </p:cNvPr>
          <p:cNvSpPr txBox="1"/>
          <p:nvPr/>
        </p:nvSpPr>
        <p:spPr>
          <a:xfrm>
            <a:off x="2492284" y="3902255"/>
            <a:ext cx="6185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потенциална енергия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0FB43E-9594-ED62-AD63-19B78066A128}"/>
                  </a:ext>
                </a:extLst>
              </p:cNvPr>
              <p:cNvSpPr txBox="1"/>
              <p:nvPr/>
            </p:nvSpPr>
            <p:spPr>
              <a:xfrm>
                <a:off x="473310" y="3917644"/>
                <a:ext cx="162211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bg-BG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bg-BG" sz="3200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0FB43E-9594-ED62-AD63-19B78066A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10" y="3917644"/>
                <a:ext cx="1622111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A2B8C3-DD57-585C-3EE8-DDF3AFB1AA65}"/>
                  </a:ext>
                </a:extLst>
              </p:cNvPr>
              <p:cNvSpPr txBox="1"/>
              <p:nvPr/>
            </p:nvSpPr>
            <p:spPr>
              <a:xfrm>
                <a:off x="473310" y="5096531"/>
                <a:ext cx="232172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A2B8C3-DD57-585C-3EE8-DDF3AFB1A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10" y="5096531"/>
                <a:ext cx="232172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CA1A21B-1629-CD9E-2546-2FA46D7F1885}"/>
              </a:ext>
            </a:extLst>
          </p:cNvPr>
          <p:cNvSpPr txBox="1"/>
          <p:nvPr/>
        </p:nvSpPr>
        <p:spPr>
          <a:xfrm>
            <a:off x="3346484" y="5171444"/>
            <a:ext cx="4004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напрежение</a:t>
            </a:r>
          </a:p>
        </p:txBody>
      </p:sp>
    </p:spTree>
    <p:extLst>
      <p:ext uri="{BB962C8B-B14F-4D97-AF65-F5344CB8AC3E}">
        <p14:creationId xmlns:p14="http://schemas.microsoft.com/office/powerpoint/2010/main" val="3743972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40D71F-F17F-7B01-4DB9-8CE7E111B330}"/>
                  </a:ext>
                </a:extLst>
              </p:cNvPr>
              <p:cNvSpPr txBox="1"/>
              <p:nvPr/>
            </p:nvSpPr>
            <p:spPr>
              <a:xfrm>
                <a:off x="636494" y="645459"/>
                <a:ext cx="157479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bg-BG" sz="32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40D71F-F17F-7B01-4DB9-8CE7E111B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94" y="645459"/>
                <a:ext cx="157479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15850E-2EBE-9182-A048-077E164C127D}"/>
                  </a:ext>
                </a:extLst>
              </p:cNvPr>
              <p:cNvSpPr txBox="1"/>
              <p:nvPr/>
            </p:nvSpPr>
            <p:spPr>
              <a:xfrm>
                <a:off x="636494" y="1488141"/>
                <a:ext cx="3128421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15850E-2EBE-9182-A048-077E164C1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94" y="1488141"/>
                <a:ext cx="3128421" cy="921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8AB321-9FBA-D2A6-D7BE-2E87D56CBD7F}"/>
              </a:ext>
            </a:extLst>
          </p:cNvPr>
          <p:cNvSpPr txBox="1"/>
          <p:nvPr/>
        </p:nvSpPr>
        <p:spPr>
          <a:xfrm>
            <a:off x="2761226" y="635879"/>
            <a:ext cx="5791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работа по преместване на заряд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D3061-7B46-74BF-9E4C-00E35890588B}"/>
              </a:ext>
            </a:extLst>
          </p:cNvPr>
          <p:cNvSpPr txBox="1"/>
          <p:nvPr/>
        </p:nvSpPr>
        <p:spPr>
          <a:xfrm>
            <a:off x="4428660" y="1687523"/>
            <a:ext cx="6902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зависимост поле – изведена формула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857C3F-C2AF-80E8-9347-B532A313744B}"/>
                  </a:ext>
                </a:extLst>
              </p:cNvPr>
              <p:cNvSpPr txBox="1"/>
              <p:nvPr/>
            </p:nvSpPr>
            <p:spPr>
              <a:xfrm>
                <a:off x="636494" y="2872612"/>
                <a:ext cx="1170962" cy="843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857C3F-C2AF-80E8-9347-B532A3137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94" y="2872612"/>
                <a:ext cx="1170962" cy="843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C766CB3-1170-AE9F-2247-004FA74DEE78}"/>
              </a:ext>
            </a:extLst>
          </p:cNvPr>
          <p:cNvSpPr txBox="1"/>
          <p:nvPr/>
        </p:nvSpPr>
        <p:spPr>
          <a:xfrm>
            <a:off x="2761226" y="3032816"/>
            <a:ext cx="546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капацитет на кондензатор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E270CC-084F-AEAC-3CEB-03108F19673E}"/>
                  </a:ext>
                </a:extLst>
              </p:cNvPr>
              <p:cNvSpPr txBox="1"/>
              <p:nvPr/>
            </p:nvSpPr>
            <p:spPr>
              <a:xfrm>
                <a:off x="665252" y="4178728"/>
                <a:ext cx="1113446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E270CC-084F-AEAC-3CEB-03108F196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52" y="4178728"/>
                <a:ext cx="1113446" cy="925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964476A-57E8-6028-DBD9-CD6F0CE8C150}"/>
              </a:ext>
            </a:extLst>
          </p:cNvPr>
          <p:cNvSpPr txBox="1"/>
          <p:nvPr/>
        </p:nvSpPr>
        <p:spPr>
          <a:xfrm>
            <a:off x="2761226" y="4216370"/>
            <a:ext cx="54683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зависимост капацитет на кондензатор от размерите му</a:t>
            </a:r>
          </a:p>
        </p:txBody>
      </p:sp>
    </p:spTree>
    <p:extLst>
      <p:ext uri="{BB962C8B-B14F-4D97-AF65-F5344CB8AC3E}">
        <p14:creationId xmlns:p14="http://schemas.microsoft.com/office/powerpoint/2010/main" val="2888760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CB058F-1097-6BCF-FB21-61BF334ED904}"/>
                  </a:ext>
                </a:extLst>
              </p:cNvPr>
              <p:cNvSpPr txBox="1"/>
              <p:nvPr/>
            </p:nvSpPr>
            <p:spPr>
              <a:xfrm>
                <a:off x="537883" y="1918447"/>
                <a:ext cx="1690784" cy="1005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bg-BG" sz="3200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CB058F-1097-6BCF-FB21-61BF334ED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83" y="1918447"/>
                <a:ext cx="1690784" cy="10055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D5A92F-A49A-171A-FA44-EAD2FE86833B}"/>
              </a:ext>
            </a:extLst>
          </p:cNvPr>
          <p:cNvSpPr txBox="1"/>
          <p:nvPr/>
        </p:nvSpPr>
        <p:spPr>
          <a:xfrm>
            <a:off x="3334966" y="2159635"/>
            <a:ext cx="4034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магнитна индукция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116CEA-EE63-A037-62EF-FEA6682647F0}"/>
                  </a:ext>
                </a:extLst>
              </p:cNvPr>
              <p:cNvSpPr txBox="1"/>
              <p:nvPr/>
            </p:nvSpPr>
            <p:spPr>
              <a:xfrm>
                <a:off x="537883" y="3352801"/>
                <a:ext cx="232903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bg-BG" sz="320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bg-BG" sz="3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116CEA-EE63-A037-62EF-FEA668264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83" y="3352801"/>
                <a:ext cx="232903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B33F4DB-3A8B-4892-BEAD-7EA54F44320F}"/>
              </a:ext>
            </a:extLst>
          </p:cNvPr>
          <p:cNvSpPr txBox="1"/>
          <p:nvPr/>
        </p:nvSpPr>
        <p:spPr>
          <a:xfrm>
            <a:off x="3334968" y="3352801"/>
            <a:ext cx="40340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максимална магнитна сила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3058B0-3288-C150-2755-D775D0AF5DBA}"/>
                  </a:ext>
                </a:extLst>
              </p:cNvPr>
              <p:cNvSpPr txBox="1"/>
              <p:nvPr/>
            </p:nvSpPr>
            <p:spPr>
              <a:xfrm>
                <a:off x="564777" y="4796118"/>
                <a:ext cx="197611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bg-BG" sz="320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𝐼𝑙𝐵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3058B0-3288-C150-2755-D775D0AF5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77" y="4796118"/>
                <a:ext cx="197611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2BF88DC-6572-FBDB-C00B-119ADE890CF3}"/>
              </a:ext>
            </a:extLst>
          </p:cNvPr>
          <p:cNvSpPr txBox="1"/>
          <p:nvPr/>
        </p:nvSpPr>
        <p:spPr>
          <a:xfrm>
            <a:off x="3334967" y="4565285"/>
            <a:ext cx="40340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сила на магнитно поле върху прав проводник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18394EB-04B1-3177-2B3F-359D4F937EB8}"/>
              </a:ext>
            </a:extLst>
          </p:cNvPr>
          <p:cNvSpPr/>
          <p:nvPr/>
        </p:nvSpPr>
        <p:spPr>
          <a:xfrm>
            <a:off x="0" y="0"/>
            <a:ext cx="7368988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Магнитно поле</a:t>
            </a:r>
          </a:p>
        </p:txBody>
      </p:sp>
    </p:spTree>
    <p:extLst>
      <p:ext uri="{BB962C8B-B14F-4D97-AF65-F5344CB8AC3E}">
        <p14:creationId xmlns:p14="http://schemas.microsoft.com/office/powerpoint/2010/main" val="1687517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259E004-0324-D353-0BD8-E1E95E873588}"/>
              </a:ext>
            </a:extLst>
          </p:cNvPr>
          <p:cNvSpPr/>
          <p:nvPr/>
        </p:nvSpPr>
        <p:spPr>
          <a:xfrm>
            <a:off x="0" y="0"/>
            <a:ext cx="12192000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Движение на частици в полета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B63905-E5CD-9A6D-D8BB-84A086A6B299}"/>
                  </a:ext>
                </a:extLst>
              </p:cNvPr>
              <p:cNvSpPr txBox="1"/>
              <p:nvPr/>
            </p:nvSpPr>
            <p:spPr>
              <a:xfrm>
                <a:off x="869577" y="2178423"/>
                <a:ext cx="279781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B63905-E5CD-9A6D-D8BB-84A086A6B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77" y="2178423"/>
                <a:ext cx="279781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BB3D52-7D5F-F55F-9367-DD3EE587A1E4}"/>
                  </a:ext>
                </a:extLst>
              </p:cNvPr>
              <p:cNvSpPr txBox="1"/>
              <p:nvPr/>
            </p:nvSpPr>
            <p:spPr>
              <a:xfrm>
                <a:off x="869577" y="2990398"/>
                <a:ext cx="18155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bg-BG" sz="32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𝑞𝑈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BB3D52-7D5F-F55F-9367-DD3EE587A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77" y="2990398"/>
                <a:ext cx="181556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849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AB23-BE8F-7040-1DF8-4F802028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EFC1045-FE5C-F295-6AF4-98AE8709F5D0}"/>
              </a:ext>
            </a:extLst>
          </p:cNvPr>
          <p:cNvSpPr/>
          <p:nvPr/>
        </p:nvSpPr>
        <p:spPr>
          <a:xfrm>
            <a:off x="0" y="0"/>
            <a:ext cx="4650685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Ток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E3998-9643-7CDF-FB0C-C2C2805A3108}"/>
                  </a:ext>
                </a:extLst>
              </p:cNvPr>
              <p:cNvSpPr txBox="1"/>
              <p:nvPr/>
            </p:nvSpPr>
            <p:spPr>
              <a:xfrm>
                <a:off x="459263" y="2097642"/>
                <a:ext cx="1076192" cy="918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E3998-9643-7CDF-FB0C-C2C2805A3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63" y="2097642"/>
                <a:ext cx="1076192" cy="9187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8B537F-D322-ED16-C2D8-3930477A24D4}"/>
                  </a:ext>
                </a:extLst>
              </p:cNvPr>
              <p:cNvSpPr txBox="1"/>
              <p:nvPr/>
            </p:nvSpPr>
            <p:spPr>
              <a:xfrm>
                <a:off x="422787" y="3410816"/>
                <a:ext cx="1752531" cy="8516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8B537F-D322-ED16-C2D8-3930477A2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87" y="3410816"/>
                <a:ext cx="1752531" cy="8516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EDE306-4E4F-FEBD-764F-E4D99BF57F1C}"/>
                  </a:ext>
                </a:extLst>
              </p:cNvPr>
              <p:cNvSpPr txBox="1"/>
              <p:nvPr/>
            </p:nvSpPr>
            <p:spPr>
              <a:xfrm>
                <a:off x="102708" y="4681071"/>
                <a:ext cx="2169110" cy="10268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g-BG" sz="3200" b="0" i="0" smtClean="0">
                                  <a:latin typeface="Cambria Math" panose="02040503050406030204" pitchFamily="18" charset="0"/>
                                </a:rPr>
                                <m:t>стр</m:t>
                              </m:r>
                            </m:sub>
                          </m:sSub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EDE306-4E4F-FEBD-764F-E4D99BF57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8" y="4681071"/>
                <a:ext cx="2169110" cy="10268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3C49B9-A3CF-2128-DFF0-A8B6ED4A2D26}"/>
                  </a:ext>
                </a:extLst>
              </p:cNvPr>
              <p:cNvSpPr txBox="1"/>
              <p:nvPr/>
            </p:nvSpPr>
            <p:spPr>
              <a:xfrm>
                <a:off x="7298185" y="1056643"/>
                <a:ext cx="33014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bg-BG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bg-BG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bg-BG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bg-BG" sz="32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3C49B9-A3CF-2128-DFF0-A8B6ED4A2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185" y="1056643"/>
                <a:ext cx="3301481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BB970E-BCD4-876A-6BB5-B7D8EC921CEB}"/>
                  </a:ext>
                </a:extLst>
              </p:cNvPr>
              <p:cNvSpPr txBox="1"/>
              <p:nvPr/>
            </p:nvSpPr>
            <p:spPr>
              <a:xfrm>
                <a:off x="7394989" y="2907953"/>
                <a:ext cx="3098477" cy="1005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BB970E-BCD4-876A-6BB5-B7D8EC921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989" y="2907953"/>
                <a:ext cx="3098477" cy="1005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DC20B7-7FB4-4B85-1509-F961B03EF1BA}"/>
                  </a:ext>
                </a:extLst>
              </p:cNvPr>
              <p:cNvSpPr txBox="1"/>
              <p:nvPr/>
            </p:nvSpPr>
            <p:spPr>
              <a:xfrm>
                <a:off x="6225190" y="5338762"/>
                <a:ext cx="134229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bg-BG" sz="320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DC20B7-7FB4-4B85-1509-F961B03EF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190" y="5338762"/>
                <a:ext cx="1342291" cy="9251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artial Circle 7">
            <a:extLst>
              <a:ext uri="{FF2B5EF4-FFF2-40B4-BE49-F238E27FC236}">
                <a16:creationId xmlns:a16="http://schemas.microsoft.com/office/drawing/2014/main" id="{D047F56D-801F-086E-687F-399DF21D3A95}"/>
              </a:ext>
            </a:extLst>
          </p:cNvPr>
          <p:cNvSpPr/>
          <p:nvPr/>
        </p:nvSpPr>
        <p:spPr>
          <a:xfrm>
            <a:off x="-880157" y="5996309"/>
            <a:ext cx="1741652" cy="1742043"/>
          </a:xfrm>
          <a:prstGeom prst="pie">
            <a:avLst>
              <a:gd name="adj1" fmla="val 16204317"/>
              <a:gd name="adj2" fmla="val 21595431"/>
            </a:avLst>
          </a:prstGeom>
          <a:solidFill>
            <a:srgbClr val="C000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dirty="0">
                <a:solidFill>
                  <a:schemeClr val="bg1"/>
                </a:solidFill>
              </a:rPr>
              <a:t>от</a:t>
            </a:r>
          </a:p>
          <a:p>
            <a:pPr algn="r"/>
            <a:r>
              <a:rPr lang="bg-BG" dirty="0">
                <a:solidFill>
                  <a:schemeClr val="bg1"/>
                </a:solidFill>
              </a:rPr>
              <a:t>МОН</a:t>
            </a:r>
          </a:p>
          <a:p>
            <a:pPr algn="r"/>
            <a:endParaRPr lang="bg-BG" dirty="0">
              <a:solidFill>
                <a:schemeClr val="bg1"/>
              </a:solidFill>
            </a:endParaRPr>
          </a:p>
          <a:p>
            <a:pPr algn="r"/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E254CF-720F-7D84-702D-A54B72CA8311}"/>
              </a:ext>
            </a:extLst>
          </p:cNvPr>
          <p:cNvSpPr txBox="1"/>
          <p:nvPr/>
        </p:nvSpPr>
        <p:spPr>
          <a:xfrm>
            <a:off x="2535442" y="2062313"/>
            <a:ext cx="3890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големина на тока зависимост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5CAE9-B50F-8111-2D19-F27ED2DC6EEB}"/>
              </a:ext>
            </a:extLst>
          </p:cNvPr>
          <p:cNvSpPr txBox="1"/>
          <p:nvPr/>
        </p:nvSpPr>
        <p:spPr>
          <a:xfrm>
            <a:off x="2535442" y="3371692"/>
            <a:ext cx="33631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Закон на Ом за цялата верига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F89969-F653-AE66-1BA2-4236764C9898}"/>
              </a:ext>
            </a:extLst>
          </p:cNvPr>
          <p:cNvSpPr txBox="1"/>
          <p:nvPr/>
        </p:nvSpPr>
        <p:spPr>
          <a:xfrm>
            <a:off x="2535442" y="4753784"/>
            <a:ext cx="33631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електродвижещо напрежение ЕДН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7E505-93AF-2B0C-9D2A-C1677A75E54F}"/>
              </a:ext>
            </a:extLst>
          </p:cNvPr>
          <p:cNvSpPr txBox="1"/>
          <p:nvPr/>
        </p:nvSpPr>
        <p:spPr>
          <a:xfrm>
            <a:off x="6225190" y="199938"/>
            <a:ext cx="51581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съпротивление - </a:t>
            </a:r>
            <a:r>
              <a:rPr lang="bg-BG" sz="2000" dirty="0"/>
              <a:t>последователно свързване</a:t>
            </a:r>
            <a:endParaRPr lang="bg-BG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1DC0C6-CC7F-831B-FC75-16D866DBF194}"/>
              </a:ext>
            </a:extLst>
          </p:cNvPr>
          <p:cNvSpPr txBox="1"/>
          <p:nvPr/>
        </p:nvSpPr>
        <p:spPr>
          <a:xfrm>
            <a:off x="6225190" y="2365967"/>
            <a:ext cx="5621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съпротивление - </a:t>
            </a:r>
            <a:r>
              <a:rPr lang="bg-BG" sz="2000" dirty="0"/>
              <a:t>успоредно свързване</a:t>
            </a:r>
            <a:endParaRPr lang="bg-BG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E1E938-3FEF-244D-9215-2AF16C3AB896}"/>
              </a:ext>
            </a:extLst>
          </p:cNvPr>
          <p:cNvSpPr txBox="1"/>
          <p:nvPr/>
        </p:nvSpPr>
        <p:spPr>
          <a:xfrm>
            <a:off x="7944889" y="5015393"/>
            <a:ext cx="40449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специфично съпротивление по удължен проводник</a:t>
            </a:r>
          </a:p>
        </p:txBody>
      </p:sp>
    </p:spTree>
    <p:extLst>
      <p:ext uri="{BB962C8B-B14F-4D97-AF65-F5344CB8AC3E}">
        <p14:creationId xmlns:p14="http://schemas.microsoft.com/office/powerpoint/2010/main" val="256891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7EEC11-AD64-536F-69D4-1EA3C360DBA4}"/>
                  </a:ext>
                </a:extLst>
              </p:cNvPr>
              <p:cNvSpPr txBox="1"/>
              <p:nvPr/>
            </p:nvSpPr>
            <p:spPr>
              <a:xfrm>
                <a:off x="729480" y="538336"/>
                <a:ext cx="13926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7EEC11-AD64-536F-69D4-1EA3C360D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80" y="538336"/>
                <a:ext cx="1392625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4692685-9AC8-389A-D873-01BD6066E3A5}"/>
              </a:ext>
            </a:extLst>
          </p:cNvPr>
          <p:cNvSpPr txBox="1"/>
          <p:nvPr/>
        </p:nvSpPr>
        <p:spPr>
          <a:xfrm>
            <a:off x="6096000" y="792454"/>
            <a:ext cx="3235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работа на ток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C22069-EFBB-28BD-FC1B-09E5F09EA4FF}"/>
                  </a:ext>
                </a:extLst>
              </p:cNvPr>
              <p:cNvSpPr txBox="1"/>
              <p:nvPr/>
            </p:nvSpPr>
            <p:spPr>
              <a:xfrm>
                <a:off x="729480" y="1368928"/>
                <a:ext cx="117859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𝐼𝑡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C22069-EFBB-28BD-FC1B-09E5F09EA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80" y="1368928"/>
                <a:ext cx="117859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77290C-BEC3-687B-350D-99D33BC64F60}"/>
                  </a:ext>
                </a:extLst>
              </p:cNvPr>
              <p:cNvSpPr txBox="1"/>
              <p:nvPr/>
            </p:nvSpPr>
            <p:spPr>
              <a:xfrm>
                <a:off x="2542552" y="990954"/>
                <a:ext cx="149079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𝐼𝑡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77290C-BEC3-687B-350D-99D33BC64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552" y="990954"/>
                <a:ext cx="1490793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02B70F-D2B2-613A-EDDA-BD4CA5DF7D36}"/>
                  </a:ext>
                </a:extLst>
              </p:cNvPr>
              <p:cNvSpPr txBox="1"/>
              <p:nvPr/>
            </p:nvSpPr>
            <p:spPr>
              <a:xfrm>
                <a:off x="701064" y="2003819"/>
                <a:ext cx="4922758" cy="9849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bg-BG" sz="3200" i="1">
                          <a:latin typeface="Cambria Math" panose="02040503050406030204" pitchFamily="18" charset="0"/>
                        </a:rPr>
                        <m:t>𝑅𝑡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02B70F-D2B2-613A-EDDA-BD4CA5DF7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64" y="2003819"/>
                <a:ext cx="4922758" cy="9849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860BA83-F2CE-654A-0D5C-79E5E269AC2E}"/>
              </a:ext>
            </a:extLst>
          </p:cNvPr>
          <p:cNvSpPr txBox="1"/>
          <p:nvPr/>
        </p:nvSpPr>
        <p:spPr>
          <a:xfrm>
            <a:off x="6096000" y="2234684"/>
            <a:ext cx="4922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електрична енергия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C25FD3-A238-F672-D2E8-9D3FAFC927D5}"/>
                  </a:ext>
                </a:extLst>
              </p:cNvPr>
              <p:cNvSpPr txBox="1"/>
              <p:nvPr/>
            </p:nvSpPr>
            <p:spPr>
              <a:xfrm>
                <a:off x="729480" y="3344409"/>
                <a:ext cx="4318683" cy="9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𝑈𝐼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bg-BG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bg-BG" sz="3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bg-BG" sz="32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bg-BG" sz="320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bg-BG" sz="3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3200" i="1" dirty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bg-BG" sz="32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bg-BG" sz="32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C25FD3-A238-F672-D2E8-9D3FAFC92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80" y="3344409"/>
                <a:ext cx="4318683" cy="9881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BD9DE56-1590-73C3-9BC1-808AC5B5CBE3}"/>
              </a:ext>
            </a:extLst>
          </p:cNvPr>
          <p:cNvSpPr txBox="1"/>
          <p:nvPr/>
        </p:nvSpPr>
        <p:spPr>
          <a:xfrm>
            <a:off x="6185734" y="3576877"/>
            <a:ext cx="4922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мощност на тока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EE52EF-86F9-A41F-347C-70505AAF0A10}"/>
                  </a:ext>
                </a:extLst>
              </p:cNvPr>
              <p:cNvSpPr txBox="1"/>
              <p:nvPr/>
            </p:nvSpPr>
            <p:spPr>
              <a:xfrm>
                <a:off x="701064" y="4996629"/>
                <a:ext cx="16987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bg-BG" sz="3200" i="1">
                          <a:latin typeface="Cambria Math" panose="02040503050406030204" pitchFamily="18" charset="0"/>
                        </a:rPr>
                        <m:t>𝑅𝑡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EE52EF-86F9-A41F-347C-70505AAF0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64" y="4996629"/>
                <a:ext cx="1698798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C172044-7C3F-6F58-BF56-B63039080B3C}"/>
              </a:ext>
            </a:extLst>
          </p:cNvPr>
          <p:cNvSpPr txBox="1"/>
          <p:nvPr/>
        </p:nvSpPr>
        <p:spPr>
          <a:xfrm>
            <a:off x="6096000" y="4883314"/>
            <a:ext cx="4922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количество топлина отделена от протичащ ток</a:t>
            </a:r>
          </a:p>
        </p:txBody>
      </p:sp>
    </p:spTree>
    <p:extLst>
      <p:ext uri="{BB962C8B-B14F-4D97-AF65-F5344CB8AC3E}">
        <p14:creationId xmlns:p14="http://schemas.microsoft.com/office/powerpoint/2010/main" val="236899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F3F6D2-0B00-A48E-D1AC-FB4F059CFBE6}"/>
                  </a:ext>
                </a:extLst>
              </p:cNvPr>
              <p:cNvSpPr txBox="1"/>
              <p:nvPr/>
            </p:nvSpPr>
            <p:spPr>
              <a:xfrm>
                <a:off x="582706" y="580016"/>
                <a:ext cx="2378087" cy="1002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32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bg-BG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bg-BG" sz="32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bg-BG" sz="3200" i="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F3F6D2-0B00-A48E-D1AC-FB4F059CF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06" y="580016"/>
                <a:ext cx="2378087" cy="10025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B50FB54-7664-4264-26CB-CE99BC79520C}"/>
              </a:ext>
            </a:extLst>
          </p:cNvPr>
          <p:cNvSpPr txBox="1"/>
          <p:nvPr/>
        </p:nvSpPr>
        <p:spPr>
          <a:xfrm>
            <a:off x="4437530" y="580016"/>
            <a:ext cx="6804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отношения  на напрежението и тока от броя навивки - трансформатор</a:t>
            </a:r>
          </a:p>
        </p:txBody>
      </p:sp>
    </p:spTree>
    <p:extLst>
      <p:ext uri="{BB962C8B-B14F-4D97-AF65-F5344CB8AC3E}">
        <p14:creationId xmlns:p14="http://schemas.microsoft.com/office/powerpoint/2010/main" val="887011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6B16-18E8-1893-7E7A-BDE7153E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FFF8DCE-A6E7-DBB9-6387-6D15F36C9F16}"/>
              </a:ext>
            </a:extLst>
          </p:cNvPr>
          <p:cNvSpPr/>
          <p:nvPr/>
        </p:nvSpPr>
        <p:spPr>
          <a:xfrm>
            <a:off x="0" y="0"/>
            <a:ext cx="8490700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Светлина/Оптика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9C5799-4B43-F745-BA15-8CF9B870C2CF}"/>
                  </a:ext>
                </a:extLst>
              </p:cNvPr>
              <p:cNvSpPr txBox="1"/>
              <p:nvPr/>
            </p:nvSpPr>
            <p:spPr>
              <a:xfrm>
                <a:off x="408224" y="3191772"/>
                <a:ext cx="2068195" cy="999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bg-BG" sz="3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bg-BG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3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bg-BG" sz="3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bg-BG" sz="3200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bg-BG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3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bg-BG" sz="3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9C5799-4B43-F745-BA15-8CF9B870C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24" y="3191772"/>
                <a:ext cx="2068195" cy="999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445909-AE2E-D948-8D97-19DF6F3C725D}"/>
                  </a:ext>
                </a:extLst>
              </p:cNvPr>
              <p:cNvSpPr txBox="1"/>
              <p:nvPr/>
            </p:nvSpPr>
            <p:spPr>
              <a:xfrm>
                <a:off x="408224" y="4657293"/>
                <a:ext cx="1106265" cy="843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445909-AE2E-D948-8D97-19DF6F3C7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24" y="4657293"/>
                <a:ext cx="1106265" cy="843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20317A-800E-F6EB-8086-C81DC454EF69}"/>
                  </a:ext>
                </a:extLst>
              </p:cNvPr>
              <p:cNvSpPr txBox="1"/>
              <p:nvPr/>
            </p:nvSpPr>
            <p:spPr>
              <a:xfrm>
                <a:off x="408224" y="5966938"/>
                <a:ext cx="14726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bg-BG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20317A-800E-F6EB-8086-C81DC454E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24" y="5966938"/>
                <a:ext cx="147264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BFF8BE-51DE-01FF-15C5-3A797501CB1F}"/>
                  </a:ext>
                </a:extLst>
              </p:cNvPr>
              <p:cNvSpPr txBox="1"/>
              <p:nvPr/>
            </p:nvSpPr>
            <p:spPr>
              <a:xfrm>
                <a:off x="8748158" y="3634533"/>
                <a:ext cx="14593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bg-BG" sz="32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BFF8BE-51DE-01FF-15C5-3A797501C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8158" y="3634533"/>
                <a:ext cx="145931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5B7AE8A-408B-9F1E-B3CD-89387A182C12}"/>
              </a:ext>
            </a:extLst>
          </p:cNvPr>
          <p:cNvSpPr txBox="1"/>
          <p:nvPr/>
        </p:nvSpPr>
        <p:spPr>
          <a:xfrm>
            <a:off x="2714187" y="3383250"/>
            <a:ext cx="3235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отношение от закон на </a:t>
            </a:r>
            <a:r>
              <a:rPr lang="bg-BG" sz="2800" dirty="0" err="1"/>
              <a:t>Снелиус</a:t>
            </a:r>
            <a:endParaRPr lang="bg-BG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5FEBC-9D80-FD65-2B30-B3DF2705B626}"/>
              </a:ext>
            </a:extLst>
          </p:cNvPr>
          <p:cNvSpPr txBox="1"/>
          <p:nvPr/>
        </p:nvSpPr>
        <p:spPr>
          <a:xfrm>
            <a:off x="2714187" y="4657293"/>
            <a:ext cx="3235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коефициент на пречупване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EAEDF-BEB6-C77C-5E4D-93C86021804A}"/>
              </a:ext>
            </a:extLst>
          </p:cNvPr>
          <p:cNvSpPr txBox="1"/>
          <p:nvPr/>
        </p:nvSpPr>
        <p:spPr>
          <a:xfrm>
            <a:off x="2714187" y="5966938"/>
            <a:ext cx="3235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ъгъл на отражение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7CEB0-9855-2A5B-53E2-29BCE9F2F521}"/>
              </a:ext>
            </a:extLst>
          </p:cNvPr>
          <p:cNvSpPr txBox="1"/>
          <p:nvPr/>
        </p:nvSpPr>
        <p:spPr>
          <a:xfrm>
            <a:off x="7428671" y="3167390"/>
            <a:ext cx="4439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скорост на светлината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CC5222-5335-3984-DC3F-3E1556D65F20}"/>
                  </a:ext>
                </a:extLst>
              </p:cNvPr>
              <p:cNvSpPr txBox="1"/>
              <p:nvPr/>
            </p:nvSpPr>
            <p:spPr>
              <a:xfrm>
                <a:off x="8490700" y="2040457"/>
                <a:ext cx="262257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bg-BG" sz="3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b="0" i="0" dirty="0" smtClean="0">
                              <a:latin typeface="Cambria Math" panose="02040503050406030204" pitchFamily="18" charset="0"/>
                            </a:rPr>
                            <m:t>3.</m:t>
                          </m:r>
                          <m:r>
                            <a:rPr lang="bg-BG" sz="3200" dirty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bg-BG" sz="3200" i="0" dirty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f>
                        <m:fPr>
                          <m:type m:val="lin"/>
                          <m:ctrlPr>
                            <a:rPr lang="bg-BG" sz="3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bg-BG" sz="32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CC5222-5335-3984-DC3F-3E1556D65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700" y="2040457"/>
                <a:ext cx="2622577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78E86A7-475B-E171-FB57-C2F0548748C0}"/>
              </a:ext>
            </a:extLst>
          </p:cNvPr>
          <p:cNvSpPr txBox="1"/>
          <p:nvPr/>
        </p:nvSpPr>
        <p:spPr>
          <a:xfrm>
            <a:off x="7941088" y="1556592"/>
            <a:ext cx="4100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скорост на светлината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9648A6-C3FF-09EC-455F-5541F5AB819B}"/>
                  </a:ext>
                </a:extLst>
              </p:cNvPr>
              <p:cNvSpPr txBox="1"/>
              <p:nvPr/>
            </p:nvSpPr>
            <p:spPr>
              <a:xfrm>
                <a:off x="408224" y="2200707"/>
                <a:ext cx="36367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bg-BG" sz="32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bg-BG" sz="32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bg-BG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9648A6-C3FF-09EC-455F-5541F5AB8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24" y="2200707"/>
                <a:ext cx="363670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CBFDCBB-5220-E85F-93E1-F0166FCF5FAB}"/>
              </a:ext>
            </a:extLst>
          </p:cNvPr>
          <p:cNvSpPr txBox="1"/>
          <p:nvPr/>
        </p:nvSpPr>
        <p:spPr>
          <a:xfrm>
            <a:off x="408224" y="1780783"/>
            <a:ext cx="3235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закон на </a:t>
            </a:r>
            <a:r>
              <a:rPr lang="bg-BG" sz="2800" dirty="0" err="1"/>
              <a:t>Снелиус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2294679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B9AF29-02CF-267F-73FE-DDC8B3448F9C}"/>
                  </a:ext>
                </a:extLst>
              </p:cNvPr>
              <p:cNvSpPr txBox="1"/>
              <p:nvPr/>
            </p:nvSpPr>
            <p:spPr>
              <a:xfrm>
                <a:off x="528917" y="1703293"/>
                <a:ext cx="180478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B9AF29-02CF-267F-73FE-DDC8B3448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17" y="1703293"/>
                <a:ext cx="180478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C3DEA9F-522B-A85B-74CF-37DA2CF0AAEA}"/>
              </a:ext>
            </a:extLst>
          </p:cNvPr>
          <p:cNvSpPr txBox="1"/>
          <p:nvPr/>
        </p:nvSpPr>
        <p:spPr>
          <a:xfrm>
            <a:off x="2583905" y="1426294"/>
            <a:ext cx="9331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Пълна мощност на излъчване от абсолютно черно тяло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5D4B4D-55D4-8DE8-6FB3-535CA22137C8}"/>
                  </a:ext>
                </a:extLst>
              </p:cNvPr>
              <p:cNvSpPr txBox="1"/>
              <p:nvPr/>
            </p:nvSpPr>
            <p:spPr>
              <a:xfrm>
                <a:off x="528917" y="2743200"/>
                <a:ext cx="578979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𝑐𝑜𝑛𝑠𝑡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=2,9.</m:t>
                      </m:r>
                      <m:sSup>
                        <m:sSupPr>
                          <m:ctrlPr>
                            <a:rPr lang="bg-BG" sz="3200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dirty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bg-BG" sz="3200" i="0" dirty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bg-BG" sz="3200" i="1" dirty="0">
                          <a:latin typeface="Cambria Math" panose="02040503050406030204" pitchFamily="18" charset="0"/>
                        </a:rPr>
                        <m:t>𝑚𝐾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5D4B4D-55D4-8DE8-6FB3-535CA2213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17" y="2743200"/>
                <a:ext cx="578979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DBE60F-5C69-8DB2-5F3D-EB68AD894FE6}"/>
                  </a:ext>
                </a:extLst>
              </p:cNvPr>
              <p:cNvSpPr txBox="1"/>
              <p:nvPr/>
            </p:nvSpPr>
            <p:spPr>
              <a:xfrm>
                <a:off x="528917" y="3783107"/>
                <a:ext cx="13168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𝑃𝑡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DBE60F-5C69-8DB2-5F3D-EB68AD894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17" y="3783107"/>
                <a:ext cx="1316835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8CCF3CD-C41E-05DD-5C94-54559D95ABBF}"/>
              </a:ext>
            </a:extLst>
          </p:cNvPr>
          <p:cNvSpPr txBox="1"/>
          <p:nvPr/>
        </p:nvSpPr>
        <p:spPr>
          <a:xfrm>
            <a:off x="2770490" y="3752330"/>
            <a:ext cx="513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енергия на излъчване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7EE526-A6D4-4BC6-D79F-21C8497C8A98}"/>
              </a:ext>
            </a:extLst>
          </p:cNvPr>
          <p:cNvSpPr txBox="1"/>
          <p:nvPr/>
        </p:nvSpPr>
        <p:spPr>
          <a:xfrm>
            <a:off x="6777715" y="2727811"/>
            <a:ext cx="513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Закон на Вин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C3D13-5BB3-83FC-D416-F56DE8BEA06D}"/>
              </a:ext>
            </a:extLst>
          </p:cNvPr>
          <p:cNvSpPr txBox="1"/>
          <p:nvPr/>
        </p:nvSpPr>
        <p:spPr>
          <a:xfrm>
            <a:off x="2583905" y="1856728"/>
            <a:ext cx="513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(Закон на Стефан)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D2B5BE-2571-0877-64DF-FEF8660203D8}"/>
                  </a:ext>
                </a:extLst>
              </p:cNvPr>
              <p:cNvSpPr txBox="1"/>
              <p:nvPr/>
            </p:nvSpPr>
            <p:spPr>
              <a:xfrm>
                <a:off x="528917" y="233653"/>
                <a:ext cx="1173976" cy="922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𝑡𝑆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D2B5BE-2571-0877-64DF-FEF866020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17" y="233653"/>
                <a:ext cx="1173976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3A8FE1F-0B3B-5DF0-1CB4-A95AAE8550E9}"/>
              </a:ext>
            </a:extLst>
          </p:cNvPr>
          <p:cNvSpPr txBox="1"/>
          <p:nvPr/>
        </p:nvSpPr>
        <p:spPr>
          <a:xfrm>
            <a:off x="2583904" y="302439"/>
            <a:ext cx="513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интензитет на светлината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B4CDE5-082E-2455-98C1-7DBF592423AC}"/>
                  </a:ext>
                </a:extLst>
              </p:cNvPr>
              <p:cNvSpPr txBox="1"/>
              <p:nvPr/>
            </p:nvSpPr>
            <p:spPr>
              <a:xfrm>
                <a:off x="0" y="4909236"/>
                <a:ext cx="5138051" cy="14773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>
                          <a:latin typeface="Cambria Math" panose="02040503050406030204" pitchFamily="18" charset="0"/>
                        </a:rPr>
                        <m:t>ⅇ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bg-BG" sz="3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bg-BG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bg-BG" sz="32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  <m:sup>
                              <m:r>
                                <a:rPr lang="bg-BG" sz="3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bg-BG" sz="3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  <a:p>
                <a:endParaRPr lang="bg-BG" sz="32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B4CDE5-082E-2455-98C1-7DBF59242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09236"/>
                <a:ext cx="5138051" cy="14773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F7F244B-5BDC-96D1-27EB-3D07A15DEEBD}"/>
              </a:ext>
            </a:extLst>
          </p:cNvPr>
          <p:cNvSpPr txBox="1"/>
          <p:nvPr/>
        </p:nvSpPr>
        <p:spPr>
          <a:xfrm>
            <a:off x="5012942" y="4924624"/>
            <a:ext cx="51380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фотоефект – максимална енергия</a:t>
            </a:r>
          </a:p>
        </p:txBody>
      </p:sp>
    </p:spTree>
    <p:extLst>
      <p:ext uri="{BB962C8B-B14F-4D97-AF65-F5344CB8AC3E}">
        <p14:creationId xmlns:p14="http://schemas.microsoft.com/office/powerpoint/2010/main" val="341067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160AA6-0787-CC06-90AA-04E935CC1D3A}"/>
                  </a:ext>
                </a:extLst>
              </p:cNvPr>
              <p:cNvSpPr txBox="1"/>
              <p:nvPr/>
            </p:nvSpPr>
            <p:spPr>
              <a:xfrm>
                <a:off x="779929" y="645458"/>
                <a:ext cx="135255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h𝑣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160AA6-0787-CC06-90AA-04E935CC1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29" y="645458"/>
                <a:ext cx="135255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0959CBA-F53E-FCF7-F2B8-A18EAEA77E5F}"/>
              </a:ext>
            </a:extLst>
          </p:cNvPr>
          <p:cNvSpPr txBox="1"/>
          <p:nvPr/>
        </p:nvSpPr>
        <p:spPr>
          <a:xfrm>
            <a:off x="2376043" y="645458"/>
            <a:ext cx="513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енергия на един квант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EAE1F-F090-B2F5-5B05-AF287D88FFE1}"/>
                  </a:ext>
                </a:extLst>
              </p:cNvPr>
              <p:cNvSpPr txBox="1"/>
              <p:nvPr/>
            </p:nvSpPr>
            <p:spPr>
              <a:xfrm>
                <a:off x="779929" y="1506070"/>
                <a:ext cx="361477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=6,63⋅</m:t>
                      </m:r>
                      <m:sSup>
                        <m:sSup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bg-BG" sz="3200" i="0">
                              <a:latin typeface="Cambria Math" panose="02040503050406030204" pitchFamily="18" charset="0"/>
                            </a:rPr>
                            <m:t>−34</m:t>
                          </m:r>
                        </m:sup>
                      </m:sSup>
                      <m:r>
                        <a:rPr lang="bg-BG" sz="3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EAE1F-F090-B2F5-5B05-AF287D88F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29" y="1506070"/>
                <a:ext cx="361477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9CC6EF7-0DFC-D448-0214-70F83F55D5AE}"/>
              </a:ext>
            </a:extLst>
          </p:cNvPr>
          <p:cNvSpPr txBox="1"/>
          <p:nvPr/>
        </p:nvSpPr>
        <p:spPr>
          <a:xfrm>
            <a:off x="4945068" y="1475293"/>
            <a:ext cx="513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константа на Планк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2A5622-EF4A-70B1-D1D3-128DF0B9F996}"/>
                  </a:ext>
                </a:extLst>
              </p:cNvPr>
              <p:cNvSpPr txBox="1"/>
              <p:nvPr/>
            </p:nvSpPr>
            <p:spPr>
              <a:xfrm>
                <a:off x="715001" y="2305128"/>
                <a:ext cx="4862613" cy="10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32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lang="bg-BG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32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bg-BG" sz="3200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2A5622-EF4A-70B1-D1D3-128DF0B9F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01" y="2305128"/>
                <a:ext cx="4862613" cy="10181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6357B3A-D1FB-47CD-36EC-D0278E4F2486}"/>
              </a:ext>
            </a:extLst>
          </p:cNvPr>
          <p:cNvSpPr txBox="1"/>
          <p:nvPr/>
        </p:nvSpPr>
        <p:spPr>
          <a:xfrm>
            <a:off x="5995213" y="2552600"/>
            <a:ext cx="5809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червена граница на фотоефект</a:t>
            </a:r>
          </a:p>
        </p:txBody>
      </p:sp>
    </p:spTree>
    <p:extLst>
      <p:ext uri="{BB962C8B-B14F-4D97-AF65-F5344CB8AC3E}">
        <p14:creationId xmlns:p14="http://schemas.microsoft.com/office/powerpoint/2010/main" val="703988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F31246C-D938-7A8F-F0E9-76E3FA8535B6}"/>
              </a:ext>
            </a:extLst>
          </p:cNvPr>
          <p:cNvSpPr/>
          <p:nvPr/>
        </p:nvSpPr>
        <p:spPr>
          <a:xfrm>
            <a:off x="0" y="0"/>
            <a:ext cx="8490700" cy="1612669"/>
          </a:xfrm>
          <a:custGeom>
            <a:avLst/>
            <a:gdLst>
              <a:gd name="connsiteX0" fmla="*/ 0 w 4650685"/>
              <a:gd name="connsiteY0" fmla="*/ 0 h 1612669"/>
              <a:gd name="connsiteX1" fmla="*/ 3840480 w 4650685"/>
              <a:gd name="connsiteY1" fmla="*/ 0 h 1612669"/>
              <a:gd name="connsiteX2" fmla="*/ 3840480 w 4650685"/>
              <a:gd name="connsiteY2" fmla="*/ 846 h 1612669"/>
              <a:gd name="connsiteX3" fmla="*/ 3907911 w 4650685"/>
              <a:gd name="connsiteY3" fmla="*/ 4164 h 1612669"/>
              <a:gd name="connsiteX4" fmla="*/ 4650685 w 4650685"/>
              <a:gd name="connsiteY4" fmla="*/ 806335 h 1612669"/>
              <a:gd name="connsiteX5" fmla="*/ 3907911 w 4650685"/>
              <a:gd name="connsiteY5" fmla="*/ 1608506 h 1612669"/>
              <a:gd name="connsiteX6" fmla="*/ 3840480 w 4650685"/>
              <a:gd name="connsiteY6" fmla="*/ 1611825 h 1612669"/>
              <a:gd name="connsiteX7" fmla="*/ 3840480 w 4650685"/>
              <a:gd name="connsiteY7" fmla="*/ 1612669 h 1612669"/>
              <a:gd name="connsiteX8" fmla="*/ 3823317 w 4650685"/>
              <a:gd name="connsiteY8" fmla="*/ 1612669 h 1612669"/>
              <a:gd name="connsiteX9" fmla="*/ 0 w 4650685"/>
              <a:gd name="connsiteY9" fmla="*/ 1612669 h 161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50685" h="1612669">
                <a:moveTo>
                  <a:pt x="0" y="0"/>
                </a:moveTo>
                <a:lnTo>
                  <a:pt x="3840480" y="0"/>
                </a:lnTo>
                <a:lnTo>
                  <a:pt x="3840480" y="846"/>
                </a:lnTo>
                <a:lnTo>
                  <a:pt x="3907911" y="4164"/>
                </a:lnTo>
                <a:cubicBezTo>
                  <a:pt x="4325116" y="45456"/>
                  <a:pt x="4650685" y="388842"/>
                  <a:pt x="4650685" y="806335"/>
                </a:cubicBezTo>
                <a:cubicBezTo>
                  <a:pt x="4650685" y="1223828"/>
                  <a:pt x="4325116" y="1567214"/>
                  <a:pt x="3907911" y="1608506"/>
                </a:cubicBezTo>
                <a:lnTo>
                  <a:pt x="3840480" y="1611825"/>
                </a:lnTo>
                <a:lnTo>
                  <a:pt x="3840480" y="1612669"/>
                </a:lnTo>
                <a:lnTo>
                  <a:pt x="3823317" y="1612669"/>
                </a:lnTo>
                <a:lnTo>
                  <a:pt x="0" y="16126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9000">
                <a:schemeClr val="accent1">
                  <a:lumMod val="60000"/>
                  <a:lumOff val="40000"/>
                </a:schemeClr>
              </a:gs>
              <a:gs pos="83000">
                <a:schemeClr val="tx2">
                  <a:lumMod val="50000"/>
                  <a:lumOff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bg-BG" sz="6000" dirty="0"/>
              <a:t>От Атома до Космоса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369F15-E13C-13CE-3A1B-BE59FEF0F1A9}"/>
                  </a:ext>
                </a:extLst>
              </p:cNvPr>
              <p:cNvSpPr txBox="1"/>
              <p:nvPr/>
            </p:nvSpPr>
            <p:spPr>
              <a:xfrm>
                <a:off x="636494" y="2061882"/>
                <a:ext cx="1417247" cy="9351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𝑚𝑣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369F15-E13C-13CE-3A1B-BE59FEF0F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94" y="2061882"/>
                <a:ext cx="1417247" cy="9351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D547AEE-005A-0C2F-B769-E1419D552439}"/>
              </a:ext>
            </a:extLst>
          </p:cNvPr>
          <p:cNvSpPr txBox="1"/>
          <p:nvPr/>
        </p:nvSpPr>
        <p:spPr>
          <a:xfrm>
            <a:off x="2573266" y="2267868"/>
            <a:ext cx="513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за частица както за вълна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D7B748-B339-A9D8-214C-2DC2C1BE3E1F}"/>
                  </a:ext>
                </a:extLst>
              </p:cNvPr>
              <p:cNvSpPr txBox="1"/>
              <p:nvPr/>
            </p:nvSpPr>
            <p:spPr>
              <a:xfrm>
                <a:off x="636494" y="3717492"/>
                <a:ext cx="1264962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bg-BG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D7B748-B339-A9D8-214C-2DC2C1BE3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94" y="3717492"/>
                <a:ext cx="1264962" cy="921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9FF5207-725D-CB92-39CB-547132C0C8A4}"/>
              </a:ext>
            </a:extLst>
          </p:cNvPr>
          <p:cNvSpPr txBox="1"/>
          <p:nvPr/>
        </p:nvSpPr>
        <p:spPr>
          <a:xfrm>
            <a:off x="2573265" y="3916874"/>
            <a:ext cx="513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Погълната доза радиация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12AC93-2473-E649-1983-B33E4FB756C0}"/>
                  </a:ext>
                </a:extLst>
              </p:cNvPr>
              <p:cNvSpPr txBox="1"/>
              <p:nvPr/>
            </p:nvSpPr>
            <p:spPr>
              <a:xfrm>
                <a:off x="636494" y="5359894"/>
                <a:ext cx="15008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32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bg-BG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3200" i="1">
                          <a:latin typeface="Cambria Math" panose="02040503050406030204" pitchFamily="18" charset="0"/>
                        </a:rPr>
                        <m:t>𝑄𝐷</m:t>
                      </m:r>
                    </m:oMath>
                  </m:oMathPara>
                </a14:m>
                <a:endParaRPr lang="bg-BG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12AC93-2473-E649-1983-B33E4FB75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94" y="5359894"/>
                <a:ext cx="150086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69C5ABB-C545-C695-31F8-A6D6FF131FA2}"/>
              </a:ext>
            </a:extLst>
          </p:cNvPr>
          <p:cNvSpPr txBox="1"/>
          <p:nvPr/>
        </p:nvSpPr>
        <p:spPr>
          <a:xfrm>
            <a:off x="2551415" y="5359894"/>
            <a:ext cx="513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еквивалентна доза</a:t>
            </a:r>
          </a:p>
        </p:txBody>
      </p:sp>
    </p:spTree>
    <p:extLst>
      <p:ext uri="{BB962C8B-B14F-4D97-AF65-F5344CB8AC3E}">
        <p14:creationId xmlns:p14="http://schemas.microsoft.com/office/powerpoint/2010/main" val="3825473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992</Words>
  <Application>Microsoft Office PowerPoint</Application>
  <PresentationFormat>Widescreen</PresentationFormat>
  <Paragraphs>251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Кратко въведение: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Силви Банжов</dc:creator>
  <cp:lastModifiedBy>Силви Банжов</cp:lastModifiedBy>
  <cp:revision>63</cp:revision>
  <dcterms:created xsi:type="dcterms:W3CDTF">2025-12-04T08:13:15Z</dcterms:created>
  <dcterms:modified xsi:type="dcterms:W3CDTF">2025-12-16T17:00:55Z</dcterms:modified>
</cp:coreProperties>
</file>